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8"/>
    <p:sldId id="257" r:id="rId9"/>
    <p:sldId id="258" r:id="rId10"/>
    <p:sldId id="259" r:id="rId11"/>
    <p:sldId id="260" r:id="rId12"/>
    <p:sldId id="261" r:id="rId7"/>
    <p:sldId id="262" r:id="rId6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24BF8E4-71D8-5144-BD12-393016A0C3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" initials="LJ" lastIdx="3" clrIdx="0"/>
  <p:cmAuthor id="2" name="Ludovic Liu" initials="LL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6"/>
    <p:restoredTop sz="94607"/>
  </p:normalViewPr>
  <p:slideViewPr>
    <p:cSldViewPr showGuides="1">
      <p:cViewPr varScale="1">
        <p:scale>
          <a:sx n="91" d="100"/>
          <a:sy n="91" d="100"/>
        </p:scale>
        <p:origin x="224" y="888"/>
      </p:cViewPr>
      <p:guideLst>
        <p:guide orient="horz" pos="2364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98786-8DB6-F04C-9F57-77556B8E1BF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3EE2F-51E3-E245-8187-288F33EED69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Welcome everyone, this opening slide displays the title of our presentation along with the author and date information.</a:t>
            </a:r>
          </a:p>
          <a:p>
            <a:r>
              <a:t>Speaker B: That's right - establishing these details upfront ensures we all share the same context for the session.</a:t>
            </a:r>
          </a:p>
          <a:p>
            <a:r>
              <a:t>Speaker A: We will use this information to frame our timeline and ownership before moving to the first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start by recognizing that LLMs face critical limits in extreme-precision, million-step tasks.</a:t>
            </a:r>
          </a:p>
          <a:p>
            <a:r>
              <a:t>Speaker B: That compounding risk means even a one percent per-step error rate renders success impossible.</a:t>
            </a:r>
          </a:p>
          <a:p>
            <a:r>
              <a:t>Speaker A: The MDAP Framework counters this with minimal subtask decomposition and subtask-level voting for error correction.</a:t>
            </a:r>
          </a:p>
          <a:p>
            <a:r>
              <a:t>Speaker B: These red-flagging mechanisms are key since they reduce correlated errors effectively within complex systems.</a:t>
            </a:r>
          </a:p>
          <a:p>
            <a:r>
              <a:t>Speaker A: Therefore, understanding these constraints is vital for large real-world process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start with the MAD Architecture, which breaks long-horizon tasks into single-action subtasks handled by dedicated agents. This minimal context strategy avoids error accumulation and enables modular correction.</a:t>
            </a:r>
          </a:p>
          <a:p>
            <a:r>
              <a:t>Speaker B: That structural choice is critical because it directly influences the cost scaling dynamics we see in the chart.</a:t>
            </a:r>
          </a:p>
          <a:p>
            <a:r>
              <a:t>Speaker A: The log-log plot maps expected cost against step count, with curves representing success probabilities from 0.9 up to 0.995.</a:t>
            </a:r>
          </a:p>
          <a:p>
            <a:r>
              <a:t>Speaker B: The key insight here is that higher success probability drastically reduces the cost scaling rate, visualizing the link between reliability and expense.</a:t>
            </a:r>
          </a:p>
          <a:p>
            <a:r>
              <a:t>Speaker A: Ultimately, this demonstrates that improving agent reliability is the most effective way to control computational costs in complex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employ Maximal Agentic Decomposition to split long-horizon tasks into minimal subtasks, where each agent handles a single action with minimal context.</a:t>
            </a:r>
          </a:p>
          <a:p>
            <a:r>
              <a:t>Speaker B: This modularity avoids error accumulation from growing context and enables efficient error correction unavailable in monolithic systems.</a:t>
            </a:r>
          </a:p>
          <a:p>
            <a:r>
              <a:t>Speaker A: The chart illustrates the performance dynamics, showing how the probability of solving tasks increases against vote thresholds across various agent success rates.</a:t>
            </a:r>
          </a:p>
          <a:p>
            <a:r>
              <a:t>Speaker B: Exactly - notice the sigmoidal curves become significantly steeper as individual agent probability approaches one, visualizing how reliability scales with vote thresholds.</a:t>
            </a:r>
          </a:p>
          <a:p>
            <a:r>
              <a:t>Speaker A: This confirms that managing these probabilities and thresholds allows us to achieve high reliability even across million-step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validated MAKER on the 20-disk Towers of Hanoi problem, executing over one million LLM steps with zero errors.</a:t>
            </a:r>
          </a:p>
          <a:p>
            <a:r>
              <a:t>Speaker B: That scale is critical because it proves the system maintains reliability even as task complexity grows exponentially.</a:t>
            </a:r>
          </a:p>
          <a:p>
            <a:r>
              <a:t>Speaker A: To establish the baseline, this chart displays single-step error rates for gpt-4.1-nano, mini, and o3-mini across varying disk numbers.</a:t>
            </a:r>
          </a:p>
          <a:p>
            <a:r>
              <a:t>Speaker B: Exactly - this visualizes the inherent model variance, showing how error rates shift with disk count while maintaining distinct mean levels per model.</a:t>
            </a:r>
          </a:p>
          <a:p>
            <a:r>
              <a:t>Speaker A: Combined with our red-flagging impact, this confirms zero errors across the full-scale execution despite these baseline model variances.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validated MAKER on the 20-disk Towers of Hanoi problem, achieving over one million LLM steps with zero errors during full-scale execution.</a:t>
            </a:r>
          </a:p>
          <a:p>
            <a:r>
              <a:t>Speaker B: This demonstrates robust performance at significant scale, visually confirmed by the logarithmic graph where undecided steps decrease exponentially with sampling rounds.</a:t>
            </a:r>
          </a:p>
          <a:p>
            <a:r>
              <a:t>Speaker A: Our evaluation structure covers setup and single-step error-rate estimation to track exactly how these sampling rounds drive resolution.</a:t>
            </a:r>
          </a:p>
          <a:p>
            <a:r>
              <a:t>Speaker B: Specifically, the comparison between First-ahead by K and First K strategies reveals how red-flagging impacts correlated errors across the system.</a:t>
            </a:r>
          </a:p>
          <a:p>
            <a:r>
              <a:t>Speaker A: Ultimately, this comprehensive analysis confirms the convergence of undecided steps through our sampling rounds and voting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We conclude by looking at how decomposing tasks into minimal subtasks enables effective error correction. This approach is what supports scaling processes to millions of steps without accumulating critical failures.</a:t>
            </a:r>
          </a:p>
          <a:p>
            <a:r>
              <a:t>Speaker B: This stability matters because breaking down complexity prevents small errors from cascading into system-wide failures. It creates the foundation needed to reach this scale.</a:t>
            </a:r>
          </a:p>
          <a:p>
            <a:r>
              <a:t>Speaker A: The log-log scatter plot here illustrates the direct relationship between Base LLM Intelligence and Consecutive Error-free Steps. You can see models like MAKER demonstrating performance trends across these different scales.</a:t>
            </a:r>
          </a:p>
          <a:p>
            <a:r>
              <a:t>Speaker B: The data points validate scaling here rather than showing a hard ceiling. This confirms that higher base intelligence translates directly into longer error-free execution chains.</a:t>
            </a:r>
          </a:p>
          <a:p>
            <a:r>
              <a:t>Speaker A: Ultimately, this evidence shows we can solve million-step tasks with zero errors by leveraging this scaling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A: This brings us to the conclusion of our session today. We sincerely appreciate your attention and interest in this work.</a:t>
            </a:r>
          </a:p>
          <a:p>
            <a:r>
              <a:t>Speaker B: Exactly - your engagement throughout this process has been invaluable to us. We are happy to address any questions you might have now.</a:t>
            </a:r>
          </a:p>
          <a:p>
            <a:r>
              <a:t>Speaker A: Thank you again for joining us, and we look forward to continuing this conversation soon.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1716629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3575188"/>
            <a:ext cx="12192001" cy="1143000"/>
          </a:xfrm>
        </p:spPr>
        <p:txBody>
          <a:bodyPr/>
          <a:lstStyle>
            <a:lvl1pPr>
              <a:defRPr b="1">
                <a:solidFill>
                  <a:srgbClr val="194297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0" y="2422527"/>
            <a:ext cx="12192001" cy="1610767"/>
          </a:xfrm>
          <a:solidFill>
            <a:srgbClr val="375AA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kumimoji="1" lang="zh-CN" altLang="en-US" sz="2400" dirty="0">
                <a:solidFill>
                  <a:schemeClr val="bg1"/>
                </a:solidFill>
              </a:rPr>
              <a:t>单击此处编辑母版标题样式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61492" y="1051562"/>
            <a:ext cx="11469016" cy="5413406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Headline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  <p:cxnSp>
        <p:nvCxnSpPr>
          <p:cNvPr id="10" name="直接连接符 2"/>
          <p:cNvCxnSpPr/>
          <p:nvPr userDrawn="1"/>
        </p:nvCxnSpPr>
        <p:spPr>
          <a:xfrm>
            <a:off x="361492" y="879000"/>
            <a:ext cx="11469016" cy="0"/>
          </a:xfrm>
          <a:prstGeom prst="line">
            <a:avLst/>
          </a:prstGeom>
          <a:ln w="28575">
            <a:solidFill>
              <a:srgbClr val="385A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/>
        </p:nvSpPr>
        <p:spPr>
          <a:xfrm>
            <a:off x="11686448" y="6499065"/>
            <a:ext cx="288121" cy="28812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675815" y="6467540"/>
            <a:ext cx="307910" cy="34091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A3F35204-DFFB-A947-BE2B-25CB3E0633F6}" type="slidenum">
              <a:rPr kumimoji="1"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361492" y="146627"/>
            <a:ext cx="10972800" cy="774447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9429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96912" y="6657628"/>
            <a:ext cx="2844800" cy="200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B3551FA5-A072-C74F-B9AC-F2D758607E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71797" y="6657628"/>
            <a:ext cx="3860800" cy="173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8272" y="6657625"/>
            <a:ext cx="28448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Agentic Decomposition</a:t>
            </a:r>
            <a:endParaRPr kumimoji="1"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7078" y="1055606"/>
            <a:ext cx="10254437" cy="5235626"/>
          </a:xfrm>
        </p:spPr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en-GB" altLang="zh-CN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One percent per-step error makes million-step success impossible.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MDAP introduces minimal subtask decomposition for process management.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  <a:defRPr>
                <a:solidFill/>
              </a:defRPr>
            </a:pPr>
            <a:r>
              <a:rPr lang="zh-CN" altLang="en-US" sz="2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Subtask-level voting and red-flagging reduce correlated errors.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LLM Limits &amp; MDAP</a:t>
            </a:r>
            <a:endParaRPr kumimoji="1" lang="zh-CN" altLang="en-US" dirty="0">
              <a:solidFil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5e68c09d_x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5216168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Scaling &amp; Cost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Reliability Saves Cost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Plot: cost vs steps. Curves show probabilities (0.9-0.995). High reliability reduces cost. Accuracy gains save compute.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66267aa9_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5216168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Task Solve Prob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Success vs. Threshold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Success rises with vote thresholds. Curves steepen as agent accuracy nears one. Shows reliability scaling.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ffcc3531_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5201819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Step Error Rate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Model Error Comparison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Error rates (1 - p) for gpt-4.1-nano, mini, o3-mini across disk counts. Mean levels highlight reliability variance.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6b00eeaf_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003300"/>
            <a:ext cx="5210821" cy="34036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Undecided Steps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Undecided Steps Decay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Log graph shows exponential decay per round. Trends compare resolution strategies. Voting drives convergence rapidly.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3" descr="19ee590b_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76" y="1563370"/>
            <a:ext cx="7086600" cy="228346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Scaling Results</a:t>
            </a:r>
            <a:endParaRPr kumimoji="1" lang="en-US" altLang="zh-CN" dirty="0">
              <a:solidFill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361493" y="1051562"/>
            <a:ext cx="4654388" cy="54134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57530" indent="-21463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>
                <a:solidFill/>
              </a:defRPr>
            </a:pPr>
            <a:r>
              <a:rPr kumimoji="1" lang="zh-CN" altLang="en-US" b="1" dirty="0">
                <a:solidFill/>
              </a:rPr>
              <a:t>Intelligence vs. Steps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Font typeface="Arial" panose="020B0604020202020204"/>
              <a:buNone/>
              <a:defRPr>
                <a:solidFill/>
              </a:defRPr>
            </a:pPr>
            <a:r>
              <a:rPr kumimoji="1" lang="zh-CN" altLang="en-US" sz="2200" dirty="0">
                <a:solidFill/>
              </a:rPr>
              <a:t>Observe linear log-log trend: Intelligence predicts Error-free Steps. MAKER validates scaling trends across scales.</a:t>
            </a:r>
            <a:endParaRPr kumimoji="1" lang="en-US" altLang="zh-CN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fld id="{184837EA-8E75-5C46-B6C5-33E17701B5D3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>
            <a:lvl1pPr>
              <a:defRPr>
                <a:solidFill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sz="4800" dirty="0">
                <a:solidFill>
                  <a:schemeClr val="bg1"/>
                </a:solidFill>
              </a:rPr>
              <a:t>Thank You!</a:t>
            </a:r>
            <a:endParaRPr kumimoji="1" lang="zh-CN" alt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NIC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WPS 演示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黑体</vt:lpstr>
      <vt:lpstr>微软雅黑</vt:lpstr>
      <vt:lpstr>Comic Sans MS</vt:lpstr>
      <vt:lpstr>Calibri</vt:lpstr>
      <vt:lpstr>Arial Unicode MS</vt:lpstr>
      <vt:lpstr>等线</vt:lpstr>
      <vt:lpstr>CNIC</vt:lpstr>
      <vt:lpstr>PowerPoint 演示文稿</vt:lpstr>
      <vt:lpstr>What are Agents?</vt:lpstr>
      <vt:lpstr>When (and when not) to use Agents</vt:lpstr>
      <vt:lpstr>Common Frameworks for Agents</vt:lpstr>
      <vt:lpstr>Building Blocks and Workflows</vt:lpstr>
      <vt:lpstr>Agents in Practice</vt:lpstr>
      <vt:lpstr>Key Principles for Building Effective Agents</vt:lpstr>
      <vt:lpstr>LLM Interaction</vt:lpstr>
      <vt:lpstr>LLM Call Generator and Evaluator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吴炜</cp:lastModifiedBy>
  <cp:revision>35</cp:revision>
  <dcterms:created xsi:type="dcterms:W3CDTF">2026-04-30T11:51:00Z</dcterms:created>
  <dcterms:modified xsi:type="dcterms:W3CDTF">2026-04-30T11:53:04Z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4DA4DB001A1F41158937266F0B7928E7_12</vt:lpwstr>
  </property>
  <property fmtid="{D5CDD505-2E9C-101B-9397-08002B2CF9AE}" pid="3" name="KSOProductBuildVer">
    <vt:lpwstr>2052-12.1.0.25865</vt:lpwstr>
  </property>
</Properties>
</file>