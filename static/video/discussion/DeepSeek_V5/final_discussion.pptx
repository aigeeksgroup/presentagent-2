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3"/>
  </p:notesMasterIdLst>
  <p:sldIdLst>
    <p:sldId id="256" r:id="rId8"/>
    <p:sldId id="257" r:id="rId9"/>
    <p:sldId id="258" r:id="rId10"/>
    <p:sldId id="259" r:id="rId11"/>
    <p:sldId id="260" r:id="rId12"/>
    <p:sldId id="261" r:id="rId7"/>
    <p:sldId id="262" r:id="rId6"/>
    <p:sldId id="263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324BF8E4-71D8-5144-BD12-393016A0C3FF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364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U JIA" initials="LJ" lastIdx="3" clrIdx="0"/>
  <p:cmAuthor id="2" name="Ludovic Liu" initials="LL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86"/>
    <p:restoredTop sz="94607"/>
  </p:normalViewPr>
  <p:slideViewPr>
    <p:cSldViewPr showGuides="1">
      <p:cViewPr varScale="1">
        <p:scale>
          <a:sx n="91" d="100"/>
          <a:sy n="91" d="100"/>
        </p:scale>
        <p:origin x="224" y="888"/>
      </p:cViewPr>
      <p:guideLst>
        <p:guide orient="horz" pos="2364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45005" cy="45005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5" Type="http://schemas.openxmlformats.org/officeDocument/2006/relationships/slide" Target="slides/slide8.xml"/><Relationship Id="rId6" Type="http://schemas.openxmlformats.org/officeDocument/2006/relationships/slide" Target="slides/slide7.xml"/><Relationship Id="rId7" Type="http://schemas.openxmlformats.org/officeDocument/2006/relationships/slide" Target="slides/slide6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ableStyles" Target="tableStyles.xml"/><Relationship Id="rId17" Type="http://schemas.openxmlformats.org/officeDocument/2006/relationships/commentAuthors" Target="comment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798786-8DB6-F04C-9F57-77556B8E1BF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93EE2F-51E3-E245-8187-288F33EED69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A: Welcome everyone to our session, where we will present the findings from our recent strategic review.</a:t>
            </a:r>
          </a:p>
          <a:p>
            <a:r>
              <a:t>Speaker B: This title page formally attributes the work to the presenting team and anchors us in the current timeline.</a:t>
            </a:r>
          </a:p>
          <a:p>
            <a:r>
              <a:t>Speaker A: With the authorship and date confirmed here, we can now proceed directly into the executive summary.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A: The DeepSeek-V4 series introduces two Mixture of Experts models designed to support one million token contexts with distinct efficiency profiles.</a:t>
            </a:r>
          </a:p>
          <a:p>
            <a:r>
              <a:t>Speaker B: The Pro model utilizes 1.6T total parameters with 49B activated, whereas Flash reduces this to 284B total for faster inference.</a:t>
            </a:r>
          </a:p>
          <a:p>
            <a:r>
              <a:t>Speaker A: Our benchmark chart compares Pro-Max against frontier systems like Claude-Opus, GPT-5.4, and Gemini across knowledge, reasoning, and agentic capabilities.</a:t>
            </a:r>
          </a:p>
          <a:p>
            <a:r>
              <a:t>Speaker B: Crucially, the visual tracks accuracy alongside computational cost, displaying single-token FLOPs and accumulated KV cache to measure true efficiency.</a:t>
            </a:r>
          </a:p>
          <a:p>
            <a:r>
              <a:t>Speaker A: This data shows Pro-Max leading open-source performance and closing the gap with closed-source competitors while maintaining competitive resource usage.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A: We begin with the architecture and efficiency layer, where we combine Compressed Sparse and Heavily Compressed Attention to drastically reduce computational costs.</a:t>
            </a:r>
          </a:p>
          <a:p>
            <a:r>
              <a:t>Speaker B: The result is a reduction to twenty-seven percent of baseline FLOPs and a ten percent KV cache at one million tokens, ensuring stability without losing expressivity.</a:t>
            </a:r>
          </a:p>
          <a:p>
            <a:r>
              <a:t>Speaker A: Moving to training and optimization, we employ the Muon Optimizer to ensure faster convergence throughout our massive pre-training on over thirty-two trillion tokens.</a:t>
            </a:r>
          </a:p>
          <a:p>
            <a:r>
              <a:t>Speaker B: This foundation supports our two-stage post-training, using expert cultivation and distillation to achieve unified consolidation.</a:t>
            </a:r>
          </a:p>
          <a:p>
            <a:r>
              <a:t>Speaker A: Ultimately, this dual focus on efficient architecture and robust optimization delivers a model that is both expressive and computationally viable.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A: This slide presents our evaluation results, directly comparing both base and instruct models against current frontier competitors.</a:t>
            </a:r>
          </a:p>
          <a:p>
            <a:r>
              <a:t>Speaker B: That distinction is critical because it shows where our pre-training stands alone versus where alignment tuning closes the gap.</a:t>
            </a:r>
          </a:p>
          <a:p>
            <a:r>
              <a:t>Speaker A: Looking at the chart, you can see the base model tracks closely with competitors, while the instruct version achieves parity on key reasoning benchmarks.</a:t>
            </a:r>
          </a:p>
          <a:p>
            <a:r>
              <a:t>Speaker B: Another way to say this is that our alignment process efficiently recovers performance without sacrificing the underlying capability of the base model.</a:t>
            </a:r>
          </a:p>
          <a:p>
            <a:r>
              <a:t>Speaker A: The key takeaway is that we are competitive across both stages, validating our training pipeline against the frontier.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A: Both DeepSeek-V4-Pro and Flash models are built with three distinct reasoning effort modes to handle varying task requirements.</a:t>
            </a:r>
          </a:p>
          <a:p>
            <a:r>
              <a:t>Speaker B: This design gives users control over computational intensity levels instead of relying on a fixed setting for every query.</a:t>
            </a:r>
          </a:p>
          <a:p>
            <a:r>
              <a:t>Speaker A: We compared performance across these modes to identify the optimal reasoning effort level for specific deployment scenarios.</a:t>
            </a:r>
          </a:p>
          <a:p>
            <a:r>
              <a:t>Speaker B: This ensures deployment scenarios benefit from matched resources rather than generic configurations that might waste capacity.</a:t>
            </a:r>
          </a:p>
          <a:p>
            <a:r>
              <a:t>Speaker A: Ultimately, selecting the right mode balances computational cost with performance for each specific use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A: This slide outlines the critical configuration guidelines for local deployment and maximizing model capacity.</a:t>
            </a:r>
          </a:p>
          <a:p>
            <a:r>
              <a:t>Speaker B: Exactly - optimal performance relies on specific sampling parameters and precision settings rather than default configurations.</a:t>
            </a:r>
          </a:p>
          <a:p>
            <a:r>
              <a:t>Speaker A: For deployment, consult the inference folder for weight conversion and set both temperature and top_p to 1.0. Additionally, Think Max mode requires a 384K token context window supported by mixed precision.</a:t>
            </a:r>
          </a:p>
          <a:p>
            <a:r>
              <a:t>Speaker B: This architecture assigns FP4 to MoE experts and FP8 to other parameters, enabling efficiency while maintaining that large context window.</a:t>
            </a:r>
          </a:p>
          <a:p>
            <a:r>
              <a:t>Speaker A: Adhering to these specs is essential for stable local execution and full reasoning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A: This release shifts away from standard Jinja-format chat templates in favor of a dedicated encoding folder. This folder contains the necessary Python scripts and test cases to handle message formatting directly.</a:t>
            </a:r>
          </a:p>
          <a:p>
            <a:r>
              <a:t>Speaker B: Exactly, this approach ensures we can demonstrate encoding messages in an OpenAI-compatible format effectively without relying on external template engines.</a:t>
            </a:r>
          </a:p>
          <a:p>
            <a:r>
              <a:t>Speaker A: Moving to the implementation workflow, we encode these OpenAI-compatible messages into input strings using specific thinking modes. We utilize the DeepSeek-V4-Pro tokenizer to process both model inputs and outputs throughout this pipeline.</a:t>
            </a:r>
          </a:p>
          <a:p>
            <a:r>
              <a:t>Speaker B: And this matters because the workflow also supports parsing model text output directly from the completion text. It streamlines the integration process for developers adopting this version.</a:t>
            </a:r>
          </a:p>
          <a:p>
            <a:r>
              <a:t>Speaker A: So, while Jinja templates are excluded, the provided scripts and tokenizer integration offer a robust path for handling chat specifications. This ensures consistent message handling across your integration workflows.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A: This brings us to the conclusion of our presentation today.</a:t>
            </a:r>
          </a:p>
          <a:p>
            <a:r>
              <a:t>Speaker B: Another way to view this outcome is as a foundation for the next phase of work.</a:t>
            </a:r>
          </a:p>
          <a:p>
            <a:r>
              <a:t>Speaker A: Thank you for your time and we look forward to collaborating further.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内容占位符 12"/>
          <p:cNvSpPr>
            <a:spLocks noGrp="1"/>
          </p:cNvSpPr>
          <p:nvPr>
            <p:ph sz="quarter" idx="13" hasCustomPrompt="1"/>
          </p:nvPr>
        </p:nvSpPr>
        <p:spPr>
          <a:xfrm>
            <a:off x="0" y="1716629"/>
            <a:ext cx="12192001" cy="1610767"/>
          </a:xfrm>
          <a:solidFill>
            <a:srgbClr val="375AA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kumimoji="1" lang="zh-CN" altLang="en-US" sz="2400" dirty="0">
                <a:solidFill>
                  <a:schemeClr val="bg1"/>
                </a:solidFill>
              </a:rPr>
              <a:t>单击此处编辑母版标题样式</a:t>
            </a:r>
            <a:endParaRPr kumimoji="1"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1" y="3575188"/>
            <a:ext cx="12192001" cy="1143000"/>
          </a:xfrm>
        </p:spPr>
        <p:txBody>
          <a:bodyPr/>
          <a:lstStyle>
            <a:lvl1pPr>
              <a:defRPr b="1">
                <a:solidFill>
                  <a:srgbClr val="194297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51FA5-A072-C74F-B9AC-F2D758607E96}" type="datetime1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837EA-8E75-5C46-B6C5-33E17701B5D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61492" y="1051562"/>
            <a:ext cx="11469016" cy="5413406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编辑母版文本样式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第二级</a:t>
            </a:r>
            <a:endParaRPr kumimoji="1" lang="zh-CN" altLang="en-US" dirty="0"/>
          </a:p>
          <a:p>
            <a:pPr lvl="2"/>
            <a:r>
              <a:rPr kumimoji="1" lang="zh-CN" altLang="en-US" dirty="0"/>
              <a:t>第三级</a:t>
            </a:r>
            <a:endParaRPr kumimoji="1" lang="zh-CN" altLang="en-US" dirty="0"/>
          </a:p>
          <a:p>
            <a:pPr lvl="3"/>
            <a:r>
              <a:rPr kumimoji="1" lang="zh-CN" altLang="en-US" dirty="0"/>
              <a:t>第四级</a:t>
            </a:r>
            <a:endParaRPr kumimoji="1" lang="zh-CN" altLang="en-US" dirty="0"/>
          </a:p>
          <a:p>
            <a:pPr lvl="4"/>
            <a:r>
              <a:rPr kumimoji="1" lang="zh-CN" altLang="en-US" dirty="0"/>
              <a:t>第五级</a:t>
            </a:r>
            <a:endParaRPr kumimoji="1" lang="zh-CN" altLang="en-US" dirty="0"/>
          </a:p>
        </p:txBody>
      </p:sp>
      <p:cxnSp>
        <p:nvCxnSpPr>
          <p:cNvPr id="10" name="直接连接符 2"/>
          <p:cNvCxnSpPr/>
          <p:nvPr userDrawn="1"/>
        </p:nvCxnSpPr>
        <p:spPr>
          <a:xfrm>
            <a:off x="361492" y="879000"/>
            <a:ext cx="11469016" cy="0"/>
          </a:xfrm>
          <a:prstGeom prst="line">
            <a:avLst/>
          </a:prstGeom>
          <a:ln w="28575">
            <a:solidFill>
              <a:srgbClr val="385A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椭圆 13"/>
          <p:cNvSpPr/>
          <p:nvPr userDrawn="1"/>
        </p:nvSpPr>
        <p:spPr>
          <a:xfrm>
            <a:off x="11686448" y="6499065"/>
            <a:ext cx="288121" cy="28812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/>
          <p:cNvSpPr txBox="1"/>
          <p:nvPr userDrawn="1"/>
        </p:nvSpPr>
        <p:spPr>
          <a:xfrm>
            <a:off x="11675815" y="6467540"/>
            <a:ext cx="307910" cy="340912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fld id="{A3F35204-DFFB-A947-BE2B-25CB3E0633F6}" type="slidenum">
              <a:rPr kumimoji="1" lang="zh-CN" altLang="en-US" sz="16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fld>
            <a:endParaRPr kumimoji="1" lang="zh-CN" alt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xfrm>
            <a:off x="361492" y="146627"/>
            <a:ext cx="10972800" cy="774447"/>
          </a:xfrm>
        </p:spPr>
        <p:txBody>
          <a:bodyPr>
            <a:normAutofit/>
          </a:bodyPr>
          <a:lstStyle>
            <a:lvl1pPr algn="l">
              <a:defRPr sz="3200" b="1">
                <a:solidFill>
                  <a:srgbClr val="194297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51FA5-A072-C74F-B9AC-F2D758607E96}" type="datetime1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837EA-8E75-5C46-B6C5-33E17701B5D3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13" name="内容占位符 12"/>
          <p:cNvSpPr>
            <a:spLocks noGrp="1"/>
          </p:cNvSpPr>
          <p:nvPr>
            <p:ph sz="quarter" idx="13" hasCustomPrompt="1"/>
          </p:nvPr>
        </p:nvSpPr>
        <p:spPr>
          <a:xfrm>
            <a:off x="0" y="2422527"/>
            <a:ext cx="12192001" cy="1610767"/>
          </a:xfrm>
          <a:solidFill>
            <a:srgbClr val="375AA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kumimoji="1" lang="zh-CN" altLang="en-US" sz="2400" dirty="0">
                <a:solidFill>
                  <a:schemeClr val="bg1"/>
                </a:solidFill>
              </a:rPr>
              <a:t>单击此处编辑母版标题样式</a:t>
            </a:r>
            <a:endParaRPr kumimoji="1" lang="zh-CN" altLang="en-US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61492" y="1051562"/>
            <a:ext cx="11469016" cy="5413406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微软雅黑" panose="020B0503020204020204" pitchFamily="34" charset="-122"/>
              </a:defRPr>
            </a:lvl1pPr>
            <a:lvl2pPr>
              <a:lnSpc>
                <a:spcPct val="130000"/>
              </a:lnSpc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微软雅黑" panose="020B0503020204020204" pitchFamily="34" charset="-122"/>
              </a:defRPr>
            </a:lvl2pPr>
            <a:lvl3pPr>
              <a:lnSpc>
                <a:spcPct val="130000"/>
              </a:lnSpc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微软雅黑" panose="020B0503020204020204" pitchFamily="34" charset="-122"/>
              </a:defRPr>
            </a:lvl3pPr>
            <a:lvl4pPr>
              <a:lnSpc>
                <a:spcPct val="130000"/>
              </a:lnSpc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微软雅黑" panose="020B0503020204020204" pitchFamily="34" charset="-122"/>
              </a:defRPr>
            </a:lvl4pPr>
            <a:lvl5pPr>
              <a:lnSpc>
                <a:spcPct val="130000"/>
              </a:lnSpc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kumimoji="1" lang="en-US" altLang="zh-CN" dirty="0"/>
              <a:t>Headline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第二级</a:t>
            </a:r>
            <a:endParaRPr kumimoji="1" lang="zh-CN" altLang="en-US" dirty="0"/>
          </a:p>
          <a:p>
            <a:pPr lvl="2"/>
            <a:r>
              <a:rPr kumimoji="1" lang="zh-CN" altLang="en-US" dirty="0"/>
              <a:t>第三级</a:t>
            </a:r>
            <a:endParaRPr kumimoji="1" lang="zh-CN" altLang="en-US" dirty="0"/>
          </a:p>
          <a:p>
            <a:pPr lvl="3"/>
            <a:r>
              <a:rPr kumimoji="1" lang="zh-CN" altLang="en-US" dirty="0"/>
              <a:t>第四级</a:t>
            </a:r>
            <a:endParaRPr kumimoji="1" lang="zh-CN" altLang="en-US" dirty="0"/>
          </a:p>
          <a:p>
            <a:pPr lvl="4"/>
            <a:r>
              <a:rPr kumimoji="1" lang="zh-CN" altLang="en-US" dirty="0"/>
              <a:t>第五级</a:t>
            </a:r>
            <a:endParaRPr kumimoji="1" lang="zh-CN" altLang="en-US" dirty="0"/>
          </a:p>
        </p:txBody>
      </p:sp>
      <p:cxnSp>
        <p:nvCxnSpPr>
          <p:cNvPr id="10" name="直接连接符 2"/>
          <p:cNvCxnSpPr/>
          <p:nvPr userDrawn="1"/>
        </p:nvCxnSpPr>
        <p:spPr>
          <a:xfrm>
            <a:off x="361492" y="879000"/>
            <a:ext cx="11469016" cy="0"/>
          </a:xfrm>
          <a:prstGeom prst="line">
            <a:avLst/>
          </a:prstGeom>
          <a:ln w="28575">
            <a:solidFill>
              <a:srgbClr val="385A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椭圆 13"/>
          <p:cNvSpPr/>
          <p:nvPr userDrawn="1"/>
        </p:nvSpPr>
        <p:spPr>
          <a:xfrm>
            <a:off x="11686448" y="6499065"/>
            <a:ext cx="288121" cy="28812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/>
          <p:cNvSpPr txBox="1"/>
          <p:nvPr userDrawn="1"/>
        </p:nvSpPr>
        <p:spPr>
          <a:xfrm>
            <a:off x="11675815" y="6467540"/>
            <a:ext cx="307910" cy="340912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fld id="{A3F35204-DFFB-A947-BE2B-25CB3E0633F6}" type="slidenum">
              <a:rPr kumimoji="1" lang="zh-CN" altLang="en-US" sz="16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fld>
            <a:endParaRPr kumimoji="1" lang="zh-CN" alt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xfrm>
            <a:off x="361492" y="146627"/>
            <a:ext cx="10972800" cy="774447"/>
          </a:xfrm>
        </p:spPr>
        <p:txBody>
          <a:bodyPr>
            <a:normAutofit/>
          </a:bodyPr>
          <a:lstStyle>
            <a:lvl1pPr algn="l">
              <a:defRPr sz="3200" b="1">
                <a:solidFill>
                  <a:srgbClr val="194297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4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96912" y="6657628"/>
            <a:ext cx="2844800" cy="200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/>
                </a:solidFill>
              </a:defRPr>
            </a:lvl1pPr>
          </a:lstStyle>
          <a:p>
            <a:fld id="{B3551FA5-A072-C74F-B9AC-F2D758607E96}" type="datetime1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271797" y="6657628"/>
            <a:ext cx="3860800" cy="1737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48272" y="6657625"/>
            <a:ext cx="2844800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184837EA-8E75-5C46-B6C5-33E17701B5D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ftr="0" dt="0"/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530" indent="-214630" algn="l" defTabSz="342900" rtl="0" eaLnBrk="1" latinLnBrk="0" hangingPunct="1">
        <a:spcBef>
          <a:spcPct val="20000"/>
        </a:spcBef>
        <a:buFont typeface="Arial" panose="020B0604020202020204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 panose="020B0604020202020204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 panose="020B0604020202020204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 panose="020B0604020202020204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 panose="020B0604020202020204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 panose="020B0604020202020204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 panose="020B0604020202020204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>
            <a:lvl1pPr>
              <a:defRPr>
                <a:solidFill/>
              </a:defRPr>
            </a:lvl1pPr>
          </a:lstStyle>
          <a:p>
            <a:pPr>
              <a:defRPr>
                <a:solidFill/>
              </a:defRPr>
            </a:pPr>
            <a:r>
              <a:rPr kumimoji="1" lang="en-US" altLang="zh-CN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DeepSeek-V4: Efficient AI</a:t>
            </a:r>
            <a:endParaRPr kumimoji="1" lang="en-US" altLang="zh-CN" sz="4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/>
              </a:defRPr>
            </a:lvl1pPr>
          </a:lstStyle>
          <a:p>
            <a:pPr>
              <a:defRPr>
                <a:solidFill/>
              </a:defRPr>
            </a:pPr>
            <a:fld id="{184837EA-8E75-5C46-B6C5-33E17701B5D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片 3" descr="7b3d6466_dsv4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3176" y="1003300"/>
            <a:ext cx="6289136" cy="3403600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>
                <a:solidFill/>
              </a:defRPr>
            </a:lvl1pPr>
          </a:lstStyle>
          <a:p>
            <a:pPr>
              <a:defRPr>
                <a:solidFill/>
              </a:defRPr>
            </a:pPr>
            <a:r>
              <a:rPr kumimoji="1" lang="en-US" altLang="zh-CN" dirty="0">
                <a:solidFill/>
              </a:rPr>
              <a:t>V4 Performance</a:t>
            </a:r>
            <a:endParaRPr kumimoji="1" lang="en-US" altLang="zh-CN" dirty="0">
              <a:solidFill/>
            </a:endParaRPr>
          </a:p>
        </p:txBody>
      </p:sp>
      <p:sp>
        <p:nvSpPr>
          <p:cNvPr id="8" name="内容占位符 1"/>
          <p:cNvSpPr txBox="1"/>
          <p:nvPr/>
        </p:nvSpPr>
        <p:spPr>
          <a:xfrm>
            <a:off x="361493" y="1051562"/>
            <a:ext cx="4654388" cy="5413406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 marL="257175" indent="-257175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557530" indent="-214630" algn="l" defTabSz="3429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8572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  <a:defRPr>
                <a:solidFill/>
              </a:defRPr>
            </a:pPr>
            <a:r>
              <a:rPr kumimoji="1" lang="zh-CN" altLang="en-US" b="1" dirty="0">
                <a:solidFill/>
              </a:rPr>
              <a:t>V4 Specs &amp; Benchmarks</a:t>
            </a:r>
            <a:endParaRPr kumimoji="1" lang="en-US" altLang="zh-CN" dirty="0"/>
          </a:p>
          <a:p>
            <a:pPr marL="0" indent="0">
              <a:lnSpc>
                <a:spcPct val="150000"/>
              </a:lnSpc>
              <a:buFont typeface="Arial" panose="020B0604020202020204"/>
              <a:buNone/>
              <a:defRPr>
                <a:solidFill/>
              </a:defRPr>
            </a:pPr>
            <a:r>
              <a:rPr kumimoji="1" lang="zh-CN" altLang="en-US" sz="2200" dirty="0">
                <a:solidFill/>
              </a:rPr>
              <a:t>Pro (1.6T) and Flash (284B) support 1M context. Pro-Max leads reasoning. Accuracy/FLOPs vs Claude, GPT, Gemini.</a:t>
            </a:r>
            <a:endParaRPr kumimoji="1" lang="en-US" altLang="zh-CN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77078" y="1055606"/>
            <a:ext cx="10254437" cy="5235626"/>
          </a:xfrm>
        </p:spPr>
        <p:txBody>
          <a:bodyPr>
            <a:normAutofit/>
          </a:bodyPr>
          <a:lstStyle>
            <a:lvl1pPr>
              <a:defRPr>
                <a:solidFill/>
              </a:defRPr>
            </a:lvl1pPr>
          </a:lstStyle>
          <a:p>
            <a:pPr marL="457200" indent="-457200">
              <a:lnSpc>
                <a:spcPct val="150000"/>
              </a:lnSpc>
              <a:buAutoNum type="arabicPeriod"/>
              <a:defRPr>
                <a:solidFill/>
              </a:defRPr>
            </a:pPr>
            <a:r>
              <a:rPr lang="en-GB" altLang="zh-CN" sz="22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</a:rPr>
              <a:t>CSA and HCA attention reduce FLOPs to 27% and KV cache to 10%.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AutoNum type="arabicPeriod"/>
              <a:defRPr>
                <a:solidFill/>
              </a:defRPr>
            </a:pPr>
            <a:r>
              <a:rPr lang="zh-CN" altLang="en-US" sz="22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</a:rPr>
              <a:t>Manifold-Constrained Hyper-Connections stabilize signal propagation and expressivity.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AutoNum type="arabicPeriod"/>
              <a:defRPr>
                <a:solidFill/>
              </a:defRPr>
            </a:pPr>
            <a:r>
              <a:rPr lang="zh-CN" altLang="en-US" sz="22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</a:rPr>
              <a:t>Muon Optimizer ensures stability across 32T token pre-training and distillation.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/>
              </a:defRPr>
            </a:lvl1pPr>
          </a:lstStyle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DeepSeek-V4 Design</a:t>
            </a:r>
            <a:endParaRPr kumimoji="1" lang="zh-CN" altLang="en-US" dirty="0">
              <a:solidFill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77078" y="1055606"/>
            <a:ext cx="10254437" cy="5235626"/>
          </a:xfrm>
        </p:spPr>
        <p:txBody>
          <a:bodyPr>
            <a:normAutofit/>
          </a:bodyPr>
          <a:lstStyle>
            <a:lvl1pPr>
              <a:defRPr>
                <a:solidFill/>
              </a:defRPr>
            </a:lvl1pPr>
          </a:lstStyle>
          <a:p>
            <a:pPr marL="457200" indent="-457200">
              <a:lnSpc>
                <a:spcPct val="150000"/>
              </a:lnSpc>
              <a:buAutoNum type="arabicPeriod"/>
              <a:defRPr>
                <a:solidFill/>
              </a:defRPr>
            </a:pPr>
            <a:r>
              <a:rPr lang="en-GB" altLang="zh-CN" sz="22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</a:rPr>
              <a:t>Base model matches frontier performance on standard reasoning benchmarks.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AutoNum type="arabicPeriod"/>
              <a:defRPr>
                <a:solidFill/>
              </a:defRPr>
            </a:pPr>
            <a:r>
              <a:rPr lang="zh-CN" altLang="en-US" sz="22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</a:rPr>
              <a:t>Instruct variant exceeds competitors in complex multi-turn dialogue.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AutoNum type="arabicPeriod"/>
              <a:defRPr>
                <a:solidFill/>
              </a:defRPr>
            </a:pPr>
            <a:r>
              <a:rPr lang="zh-CN" altLang="en-US" sz="22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</a:rPr>
              <a:t>Superior efficiency maintained across million-token context operations.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/>
              </a:defRPr>
            </a:lvl1pPr>
          </a:lstStyle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Evaluation Results</a:t>
            </a:r>
            <a:endParaRPr kumimoji="1" lang="zh-CN" altLang="en-US" dirty="0">
              <a:solidFill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77078" y="1055606"/>
            <a:ext cx="10254437" cy="5235626"/>
          </a:xfrm>
        </p:spPr>
        <p:txBody>
          <a:bodyPr>
            <a:normAutofit/>
          </a:bodyPr>
          <a:lstStyle>
            <a:lvl1pPr>
              <a:defRPr>
                <a:solidFill/>
              </a:defRPr>
            </a:lvl1pPr>
          </a:lstStyle>
          <a:p>
            <a:pPr marL="457200" indent="-457200">
              <a:lnSpc>
                <a:spcPct val="150000"/>
              </a:lnSpc>
              <a:buAutoNum type="arabicPeriod"/>
              <a:defRPr>
                <a:solidFill/>
              </a:defRPr>
            </a:pPr>
            <a:r>
              <a:rPr lang="en-GB" altLang="zh-CN" sz="22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</a:rPr>
              <a:t>DeepSeek-V4-Pro and Flash models both support three distinct reasoning effort modes.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AutoNum type="arabicPeriod"/>
              <a:defRPr>
                <a:solidFill/>
              </a:defRPr>
            </a:pPr>
            <a:r>
              <a:rPr lang="zh-CN" altLang="en-US" sz="22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</a:rPr>
              <a:t>Users select computational intensity levels to match specific task requirements effectively.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AutoNum type="arabicPeriod"/>
              <a:defRPr>
                <a:solidFill/>
              </a:defRPr>
            </a:pPr>
            <a:r>
              <a:rPr lang="zh-CN" altLang="en-US" sz="22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</a:rPr>
              <a:t>Comparison analysis identifies optimal reasoning effort levels for deployment scenarios.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/>
              </a:defRPr>
            </a:lvl1pPr>
          </a:lstStyle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Reasoning Modes</a:t>
            </a:r>
            <a:endParaRPr kumimoji="1" lang="zh-CN" altLang="en-US" dirty="0">
              <a:solidFill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77078" y="1055606"/>
            <a:ext cx="10254437" cy="5235626"/>
          </a:xfrm>
        </p:spPr>
        <p:txBody>
          <a:bodyPr>
            <a:normAutofit/>
          </a:bodyPr>
          <a:lstStyle>
            <a:lvl1pPr>
              <a:defRPr>
                <a:solidFill/>
              </a:defRPr>
            </a:lvl1pPr>
          </a:lstStyle>
          <a:p>
            <a:pPr marL="457200" indent="-457200">
              <a:lnSpc>
                <a:spcPct val="150000"/>
              </a:lnSpc>
              <a:buAutoNum type="arabicPeriod"/>
              <a:defRPr>
                <a:solidFill/>
              </a:defRPr>
            </a:pPr>
            <a:r>
              <a:rPr lang="en-GB" altLang="zh-CN" sz="22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</a:rPr>
              <a:t>Consult inference folder for weight conversion and chat demo setup.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AutoNum type="arabicPeriod"/>
              <a:defRPr>
                <a:solidFill/>
              </a:defRPr>
            </a:pPr>
            <a:r>
              <a:rPr lang="zh-CN" altLang="en-US" sz="22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</a:rPr>
              <a:t>Set temperature and top_p to 1.0 for optimal sampling performance.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AutoNum type="arabicPeriod"/>
              <a:defRPr>
                <a:solidFill/>
              </a:defRPr>
            </a:pPr>
            <a:r>
              <a:rPr lang="zh-CN" altLang="en-US" sz="22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</a:rPr>
              <a:t>Think Max requires 384K context with FP4 for MoE and FP8 precision.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/>
              </a:defRPr>
            </a:lvl1pPr>
          </a:lstStyle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Local Setup Guide</a:t>
            </a:r>
            <a:endParaRPr kumimoji="1" lang="zh-CN" altLang="en-US" dirty="0">
              <a:solidFill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77078" y="1055606"/>
            <a:ext cx="10254437" cy="5235626"/>
          </a:xfrm>
        </p:spPr>
        <p:txBody>
          <a:bodyPr>
            <a:normAutofit/>
          </a:bodyPr>
          <a:lstStyle>
            <a:lvl1pPr>
              <a:defRPr>
                <a:solidFill/>
              </a:defRPr>
            </a:lvl1pPr>
          </a:lstStyle>
          <a:p>
            <a:pPr marL="457200" indent="-457200">
              <a:lnSpc>
                <a:spcPct val="150000"/>
              </a:lnSpc>
              <a:buAutoNum type="arabicPeriod"/>
              <a:defRPr>
                <a:solidFill/>
              </a:defRPr>
            </a:pPr>
            <a:r>
              <a:rPr lang="en-GB" altLang="zh-CN" sz="22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</a:rPr>
              <a:t>Dedicated encoding folder; Jinja templates excluded.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AutoNum type="arabicPeriod"/>
              <a:defRPr>
                <a:solidFill/>
              </a:defRPr>
            </a:pPr>
            <a:r>
              <a:rPr lang="zh-CN" altLang="en-US" sz="22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</a:rPr>
              <a:t>Encodes OpenAI messages via specific thinking modes.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AutoNum type="arabicPeriod"/>
              <a:defRPr>
                <a:solidFill/>
              </a:defRPr>
            </a:pPr>
            <a:r>
              <a:rPr lang="zh-CN" altLang="en-US" sz="22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</a:rPr>
              <a:t>Uses DeepSeek-V4-Pro tokenizer for processing.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/>
              </a:defRPr>
            </a:lvl1pPr>
          </a:lstStyle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Chat Template Spec</a:t>
            </a:r>
            <a:endParaRPr kumimoji="1" lang="zh-CN" altLang="en-US" dirty="0">
              <a:solidFill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/>
              </a:defRPr>
            </a:lvl1pPr>
          </a:lstStyle>
          <a:p>
            <a:pPr>
              <a:defRPr>
                <a:solidFill/>
              </a:defRPr>
            </a:pPr>
            <a:fld id="{184837EA-8E75-5C46-B6C5-33E17701B5D3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>
            <a:lvl1pPr>
              <a:defRPr>
                <a:solidFill/>
              </a:defRPr>
            </a:lvl1pPr>
          </a:lstStyle>
          <a:p>
            <a:pPr>
              <a:defRPr>
                <a:solidFill/>
              </a:defRPr>
            </a:pPr>
            <a:r>
              <a:rPr kumimoji="1" lang="zh-CN" altLang="en-US" sz="4800" dirty="0">
                <a:solidFill>
                  <a:schemeClr val="bg1"/>
                </a:solidFill>
              </a:rPr>
              <a:t>Thank You!</a:t>
            </a:r>
            <a:endParaRPr kumimoji="1" lang="zh-CN" altLang="en-US" sz="4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NIC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2249</Words>
  <Application>WPS 演示</Application>
  <PresentationFormat>宽屏</PresentationFormat>
  <Paragraphs>56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宋体</vt:lpstr>
      <vt:lpstr>Wingdings</vt:lpstr>
      <vt:lpstr>Arial</vt:lpstr>
      <vt:lpstr>黑体</vt:lpstr>
      <vt:lpstr>微软雅黑</vt:lpstr>
      <vt:lpstr>Comic Sans MS</vt:lpstr>
      <vt:lpstr>Calibri</vt:lpstr>
      <vt:lpstr>Arial Unicode MS</vt:lpstr>
      <vt:lpstr>等线</vt:lpstr>
      <vt:lpstr>CNIC</vt:lpstr>
      <vt:lpstr>PowerPoint 演示文稿</vt:lpstr>
      <vt:lpstr>What are Agents?</vt:lpstr>
      <vt:lpstr>When (and when not) to use Agents</vt:lpstr>
      <vt:lpstr>Common Frameworks for Agents</vt:lpstr>
      <vt:lpstr>Building Blocks and Workflows</vt:lpstr>
      <vt:lpstr>Agents in Practice</vt:lpstr>
      <vt:lpstr>Key Principles for Building Effective Agents</vt:lpstr>
      <vt:lpstr>LLM Interaction</vt:lpstr>
      <vt:lpstr>LLM Call Generator and Evaluator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吴炜</cp:lastModifiedBy>
  <cp:revision>35</cp:revision>
  <dcterms:created xsi:type="dcterms:W3CDTF">2026-04-30T11:51:00Z</dcterms:created>
  <dcterms:modified xsi:type="dcterms:W3CDTF">2026-04-30T11:53:04Z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4DA4DB001A1F41158937266F0B7928E7_12</vt:lpwstr>
  </property>
  <property fmtid="{D5CDD505-2E9C-101B-9397-08002B2CF9AE}" pid="3" name="KSOProductBuildVer">
    <vt:lpwstr>2052-12.1.0.25865</vt:lpwstr>
  </property>
</Properties>
</file>