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3"/>
  </p:notesMasterIdLst>
  <p:sldIdLst>
    <p:sldId id="256" r:id="rId8"/>
    <p:sldId id="257" r:id="rId9"/>
    <p:sldId id="258" r:id="rId10"/>
    <p:sldId id="259" r:id="rId11"/>
    <p:sldId id="260" r:id="rId12"/>
    <p:sldId id="261" r:id="rId7"/>
    <p:sldId id="262" r:id="rId6"/>
    <p:sldId id="263" r:id="rId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324BF8E4-71D8-5144-BD12-393016A0C3FF}">
          <p14:sldIdLst>
            <p14:sldId id="256"/>
            <p14:sldId id="257"/>
            <p14:sldId id="258"/>
            <p14:sldId id="259"/>
            <p14:sldId id="260"/>
            <p14:sldId id="261"/>
            <p14:sldId id="262"/>
            <p14:sldId id="263"/>
            <p14:sldId id="264"/>
            <p14:sldId id="265"/>
          </p14:sldIdLst>
        </p14:section>
      </p14:sectionLst>
    </p:ext>
    <p:ext uri="{EFAFB233-063F-42B5-8137-9DF3F51BA10A}">
      <p15:sldGuideLst xmlns:p15="http://schemas.microsoft.com/office/powerpoint/2012/main">
        <p15:guide id="1" orient="horz" pos="2364" userDrawn="1">
          <p15:clr>
            <a:srgbClr val="A4A3A4"/>
          </p15:clr>
        </p15:guide>
        <p15:guide id="2" pos="3817"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U JIA" initials="LJ" lastIdx="3" clrIdx="0"/>
  <p:cmAuthor id="2" name="Ludovic Liu" initials="LL" lastIdx="2" clrIdx="1"/>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886"/>
    <p:restoredTop sz="94607"/>
  </p:normalViewPr>
  <p:slideViewPr>
    <p:cSldViewPr showGuides="1">
      <p:cViewPr varScale="1">
        <p:scale>
          <a:sx n="91" d="100"/>
          <a:sy n="91" d="100"/>
        </p:scale>
        <p:origin x="224" y="888"/>
      </p:cViewPr>
      <p:guideLst>
        <p:guide orient="horz" pos="2364"/>
        <p:guide pos="3817"/>
      </p:guideLst>
    </p:cSldViewPr>
  </p:slideViewPr>
  <p:notesTextViewPr>
    <p:cViewPr>
      <p:scale>
        <a:sx n="1" d="1"/>
        <a:sy n="1" d="1"/>
      </p:scale>
      <p:origin x="0" y="0"/>
    </p:cViewPr>
  </p:notesTextViewPr>
  <p:notesViewPr>
    <p:cSldViewPr>
      <p:cViewPr varScale="1">
        <p:scale>
          <a:sx n="66" d="100"/>
          <a:sy n="66" d="100"/>
        </p:scale>
        <p:origin x="0" y="0"/>
      </p:cViewPr>
      <p:guideLst/>
    </p:cSldViewPr>
  </p:notesViewPr>
  <p:gridSpacing cx="45005" cy="450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5" Type="http://schemas.openxmlformats.org/officeDocument/2006/relationships/slide" Target="slides/slide8.xml"/><Relationship Id="rId6" Type="http://schemas.openxmlformats.org/officeDocument/2006/relationships/slide" Target="slides/slide7.xml"/><Relationship Id="rId7" Type="http://schemas.openxmlformats.org/officeDocument/2006/relationships/slide" Target="slides/slide6.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ableStyles" Target="tableStyles.xml"/><Relationship Id="rId17"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798786-8DB6-F04C-9F57-77556B8E1BF3}"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93EE2F-51E3-E245-8187-288F33EED691}"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 Welcome to this overview of our functional layout schema.</a:t>
            </a:r>
          </a:p>
          <a:p>
            <a:r>
              <a:t>Speaker B: Presenting this meta information upfront ensures alignment on the document version and ownership.</a:t>
            </a:r>
          </a:p>
          <a:p>
            <a:r>
              <a:t>Speaker A: We will reference these details throughout to maintain clarity, so let's move directly into the core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 When we fine-tune neural networks for specialized tasks, they often suffer from catastrophic forgetting, effectively erasing previously learned knowledge.</a:t>
            </a:r>
          </a:p>
          <a:p>
            <a:r>
              <a:t>Speaker B: This forces a difficult trade-off where acquiring expert skills in fields like medical diagnosis risks compromising the model's general competence.</a:t>
            </a:r>
          </a:p>
          <a:p>
            <a:r>
              <a:t>Speaker A: To solve this, the architecture utilizes a matrix transformation structure where specific weight matrices combine to form modified components.</a:t>
            </a:r>
          </a:p>
          <a:p>
            <a:r>
              <a:t>Speaker B: Notice how the diagram depicts matrices W_n^{(1)} and W_n^{(2)} combining through color-coded blocks to adjust parameters without direct overwriting.</a:t>
            </a:r>
          </a:p>
          <a:p>
            <a:r>
              <a:t>Speaker A: This approach allows us to maintain foundational knowledge while successfully adapting to new specialized domains.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 Our approach introduces a function-preserving mechanism that grows MLP submodules within pre-trained Transformers.</a:t>
            </a:r>
          </a:p>
          <a:p>
            <a:r>
              <a:t>Speaker B: Exactly, by duplicating the up-projection weights and compensating in the down-projection layer, we maintain the model's initial behavior while creating space for new skills.</a:t>
            </a:r>
          </a:p>
          <a:p>
            <a:r>
              <a:t>Speaker A: Looking at the accuracy trends over twelve thousand steps, the grow and train method significantly outperforms both vanilla fine-tuning and the grow and freeze strategy in the finetuning domain.</a:t>
            </a:r>
          </a:p>
          <a:p>
            <a:r>
              <a:t>Speaker B: Crucially, this improvement doesn't come at a cost, as original domain performance remains stable across all growth strategies compared to the baseline.</a:t>
            </a:r>
          </a:p>
          <a:p>
            <a:r>
              <a:t>Speaker A: This confirms that expanding capacity through structured growth allows for superior adaptation without overwriting previously learned knowledge.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 This slide validates our method's ability to eliminate forgetting across varying layer counts and domains. We see that G-Freeze matches standard fine-tuning on new tasks while nearly preserving original domain knowledge.</a:t>
            </a:r>
          </a:p>
          <a:p>
            <a:r>
              <a:t>Speaker B: That stability is crucial because baseline fine-tuning collapses prior knowledge, causing accuracy to drop significantly on large domain shifts.</a:t>
            </a:r>
          </a:p>
          <a:p>
            <a:r>
              <a:t>Speaker A: Looking at the accuracy chart, notice how G-Train further outperforms G-Freeze on complex tasks like MathQA by fine-tuning the up-projection. This shows targeted plasticity helps improve performance on these harder tasks.</a:t>
            </a:r>
          </a:p>
          <a:p>
            <a:r>
              <a:t>Speaker B: Critically, this happens while foundational knowledge remains intact during training rather than being overwritten.</a:t>
            </a:r>
          </a:p>
          <a:p>
            <a:r>
              <a:t>Speaker A: Ultimately, this confirms we can eliminate forgetting across varying layer counts without compromising on new task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 As we analyze the data distribution across these twenty-six categories, G-Freeze matches standard fine-tuning on new tasks while preserving original domain knowledge.</a:t>
            </a:r>
          </a:p>
          <a:p>
            <a:r>
              <a:t>Speaker B: In contrast, the baseline fine-tuning collapses prior knowledge completely, with accuracy dropping to near-zero on original tasks.</a:t>
            </a:r>
          </a:p>
          <a:p>
            <a:r>
              <a:t>Speaker A: However, on complex tasks like MathQA, G-Train fine-tuning the up-projection outperforms G-Freeze.</a:t>
            </a:r>
          </a:p>
          <a:p>
            <a:r>
              <a:t>Speaker B: Exactly, this indicates that targeted plasticity aids adaptation without sacrificing foundational knowledge entirely.</a:t>
            </a:r>
          </a:p>
          <a:p>
            <a:r>
              <a:t>Speaker A: Ultimately, the goal is balancing stability across domain shifts with the flexibility needed for complex reasoning.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 Let's examine the impact of different initialization strategies on accuracy and BLEU scores during our ablation studies. We evaluate performance continuously over fifty training steps to validate the core methodology.</a:t>
            </a:r>
          </a:p>
          <a:p>
            <a:r>
              <a:t>Speaker B: The chart directly compares our function-preserving approach against standard zero initialization baselines. Distinct lines track both one and three layer configurations to isolate the effect of added capacity.</a:t>
            </a:r>
          </a:p>
          <a:p>
            <a:r>
              <a:t>Speaker A: Looking at the trends, our method consistently maintains higher performance compared to the zero initialization variants throughout the training process. This confirms that adding capacity to MLP layers resolves the trade-off between learning new tasks and retaining old knowledge.</a:t>
            </a:r>
          </a:p>
          <a:p>
            <a:r>
              <a:t>Speaker B: Exactly - that stability demonstrates the model isn't overwriting previous knowledge while adapting. Even with just one layer, our initialization outperforms the baseline across both metrics.</a:t>
            </a:r>
          </a:p>
          <a:p>
            <a:r>
              <a:t>Speaker A: So the key takeaway is that our initialization strategy enables effective growth without sacrificing existing capabilities.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 This slide summarizes our final performance comparison, showing how the proposed method outperforms vanilla baselines. We specifically resolve the trade-off between learning new tasks and retaining old knowledge.</a:t>
            </a:r>
          </a:p>
          <a:p>
            <a:r>
              <a:t>Speaker B: This success comes from adding capacity to the MLP layers in a function-preserving manner. It ensures we expand capability without overwriting what the model already knows.</a:t>
            </a:r>
          </a:p>
          <a:p>
            <a:r>
              <a:t>Speaker A: Looking at the chart, you can see accuracy trends over training steps for both the original and fine-tuning domains. Our method consistently tracks higher than the vanilla approach across both areas.</a:t>
            </a:r>
          </a:p>
          <a:p>
            <a:r>
              <a:t>Speaker B: That consistent gap confirms we aren't sacrificing original domain performance to gain fine-tuning accuracy. It validates that the expansion strategy works simultaneously across domains.</a:t>
            </a:r>
          </a:p>
          <a:p>
            <a:r>
              <a:t>Speaker A: So, the key takeaway is that we achieve superior results in both domains without the usual compromise. This demonstrates the effectiveness of our growth strategy over standard fine-tuning.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 This brings us to the end of our presentation today. We want to express our sincere gratitude for your time and attention.</a:t>
            </a:r>
          </a:p>
          <a:p>
            <a:r>
              <a:t>Speaker B: We hope the insights shared here will support your future planning and decision-making processes. Thank you for engaging with us on this topic.</a:t>
            </a:r>
          </a:p>
          <a:p>
            <a:r>
              <a:t>Speaker A: We are now available to address any final questions you might have. Thank you all for joining us.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13" name="内容占位符 12"/>
          <p:cNvSpPr>
            <a:spLocks noGrp="1"/>
          </p:cNvSpPr>
          <p:nvPr>
            <p:ph sz="quarter" idx="13" hasCustomPrompt="1"/>
          </p:nvPr>
        </p:nvSpPr>
        <p:spPr>
          <a:xfrm>
            <a:off x="0" y="1716629"/>
            <a:ext cx="12192001" cy="1610767"/>
          </a:xfrm>
          <a:solidFill>
            <a:srgbClr val="375AA4"/>
          </a:solidFill>
        </p:spPr>
        <p:txBody>
          <a:bodyPr anchor="ctr">
            <a:normAutofit/>
          </a:bodyPr>
          <a:lstStyle>
            <a:lvl1pPr marL="0" indent="0" algn="ctr">
              <a:buNone/>
              <a:defRPr sz="2800">
                <a:latin typeface="黑体" panose="02010609060101010101" pitchFamily="49" charset="-122"/>
                <a:ea typeface="黑体" panose="02010609060101010101" pitchFamily="49" charset="-122"/>
              </a:defRPr>
            </a:lvl1pPr>
          </a:lstStyle>
          <a:p>
            <a:r>
              <a:rPr kumimoji="1" lang="zh-CN" altLang="en-US" sz="2400" dirty="0">
                <a:solidFill>
                  <a:schemeClr val="bg1"/>
                </a:solidFill>
              </a:rPr>
              <a:t>单击此处编辑母版标题样式</a:t>
            </a:r>
            <a:endParaRPr kumimoji="1" lang="zh-CN" altLang="en-US" sz="2400" dirty="0">
              <a:solidFill>
                <a:schemeClr val="bg1"/>
              </a:solidFill>
            </a:endParaRPr>
          </a:p>
        </p:txBody>
      </p:sp>
      <p:sp>
        <p:nvSpPr>
          <p:cNvPr id="2" name="标题 1"/>
          <p:cNvSpPr>
            <a:spLocks noGrp="1"/>
          </p:cNvSpPr>
          <p:nvPr>
            <p:ph type="title"/>
          </p:nvPr>
        </p:nvSpPr>
        <p:spPr>
          <a:xfrm>
            <a:off x="-1" y="3575188"/>
            <a:ext cx="12192001" cy="1143000"/>
          </a:xfrm>
        </p:spPr>
        <p:txBody>
          <a:bodyPr/>
          <a:lstStyle>
            <a:lvl1pPr>
              <a:defRPr b="1">
                <a:solidFill>
                  <a:srgbClr val="194297"/>
                </a:solidFill>
                <a:latin typeface="黑体" panose="02010609060101010101" pitchFamily="49" charset="-122"/>
                <a:ea typeface="黑体" panose="02010609060101010101" pitchFamily="49" charset="-122"/>
              </a:defRPr>
            </a:lvl1pPr>
          </a:lstStyle>
          <a:p>
            <a:r>
              <a:rPr kumimoji="1" lang="zh-CN" altLang="en-US" dirty="0"/>
              <a:t>单击此处编辑母版标题样式</a:t>
            </a:r>
            <a:endParaRPr kumimoji="1" lang="zh-CN" altLang="en-US" dirty="0"/>
          </a:p>
        </p:txBody>
      </p:sp>
      <p:sp>
        <p:nvSpPr>
          <p:cNvPr id="3" name="日期占位符 2"/>
          <p:cNvSpPr>
            <a:spLocks noGrp="1"/>
          </p:cNvSpPr>
          <p:nvPr>
            <p:ph type="dt" sz="half" idx="10"/>
          </p:nvPr>
        </p:nvSpPr>
        <p:spPr/>
        <p:txBody>
          <a:bodyPr/>
          <a:lstStyle/>
          <a:p>
            <a:fld id="{B3551FA5-A072-C74F-B9AC-F2D758607E96}" type="datetime1">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184837EA-8E75-5C46-B6C5-33E17701B5D3}" type="slidenum">
              <a:rPr kumimoji="1" lang="zh-CN" altLang="en-US" smtClean="0"/>
            </a:fld>
            <a:endParaRPr kumimoji="1"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361492" y="1051562"/>
            <a:ext cx="11469016" cy="5413406"/>
          </a:xfrm>
        </p:spPr>
        <p:txBody>
          <a:bodyPr>
            <a:normAutofit/>
          </a:bodyPr>
          <a:lstStyle>
            <a:lvl1pPr>
              <a:defRPr sz="2400">
                <a:solidFill>
                  <a:schemeClr val="tx1"/>
                </a:solidFill>
                <a:latin typeface="微软雅黑" panose="020B0503020204020204" pitchFamily="34" charset="-122"/>
                <a:ea typeface="微软雅黑" panose="020B0503020204020204" pitchFamily="34" charset="-122"/>
              </a:defRPr>
            </a:lvl1pPr>
            <a:lvl2pPr>
              <a:defRPr sz="2000">
                <a:solidFill>
                  <a:schemeClr val="tx1"/>
                </a:solidFill>
                <a:latin typeface="微软雅黑" panose="020B0503020204020204" pitchFamily="34" charset="-122"/>
                <a:ea typeface="微软雅黑" panose="020B0503020204020204" pitchFamily="34" charset="-122"/>
              </a:defRPr>
            </a:lvl2pPr>
            <a:lvl3pPr>
              <a:defRPr sz="2000">
                <a:solidFill>
                  <a:schemeClr val="tx1"/>
                </a:solidFill>
                <a:latin typeface="微软雅黑" panose="020B0503020204020204" pitchFamily="34" charset="-122"/>
                <a:ea typeface="微软雅黑" panose="020B0503020204020204" pitchFamily="34" charset="-122"/>
              </a:defRPr>
            </a:lvl3pPr>
            <a:lvl4pPr>
              <a:defRPr sz="2000">
                <a:solidFill>
                  <a:schemeClr val="tx1"/>
                </a:solidFill>
                <a:latin typeface="微软雅黑" panose="020B0503020204020204" pitchFamily="34" charset="-122"/>
                <a:ea typeface="微软雅黑" panose="020B0503020204020204" pitchFamily="34" charset="-122"/>
              </a:defRPr>
            </a:lvl4pPr>
            <a:lvl5pPr>
              <a:defRPr sz="2000">
                <a:solidFill>
                  <a:schemeClr val="tx1"/>
                </a:solidFill>
                <a:latin typeface="微软雅黑" panose="020B0503020204020204" pitchFamily="34" charset="-122"/>
                <a:ea typeface="微软雅黑" panose="020B0503020204020204" pitchFamily="34" charset="-122"/>
              </a:defRPr>
            </a:lvl5pPr>
          </a:lstStyle>
          <a:p>
            <a:pPr lvl="0"/>
            <a:r>
              <a:rPr kumimoji="1" lang="zh-CN" altLang="en-US" dirty="0"/>
              <a:t>编辑母版文本样式</a:t>
            </a:r>
            <a:endParaRPr kumimoji="1" lang="zh-CN" altLang="en-US" dirty="0"/>
          </a:p>
          <a:p>
            <a:pPr lvl="1"/>
            <a:r>
              <a:rPr kumimoji="1" lang="zh-CN" altLang="en-US" dirty="0"/>
              <a:t>第二级</a:t>
            </a:r>
            <a:endParaRPr kumimoji="1" lang="zh-CN" altLang="en-US" dirty="0"/>
          </a:p>
          <a:p>
            <a:pPr lvl="2"/>
            <a:r>
              <a:rPr kumimoji="1" lang="zh-CN" altLang="en-US" dirty="0"/>
              <a:t>第三级</a:t>
            </a:r>
            <a:endParaRPr kumimoji="1" lang="zh-CN" altLang="en-US" dirty="0"/>
          </a:p>
          <a:p>
            <a:pPr lvl="3"/>
            <a:r>
              <a:rPr kumimoji="1" lang="zh-CN" altLang="en-US" dirty="0"/>
              <a:t>第四级</a:t>
            </a:r>
            <a:endParaRPr kumimoji="1" lang="zh-CN" altLang="en-US" dirty="0"/>
          </a:p>
          <a:p>
            <a:pPr lvl="4"/>
            <a:r>
              <a:rPr kumimoji="1" lang="zh-CN" altLang="en-US" dirty="0"/>
              <a:t>第五级</a:t>
            </a:r>
            <a:endParaRPr kumimoji="1" lang="zh-CN" altLang="en-US" dirty="0"/>
          </a:p>
        </p:txBody>
      </p:sp>
      <p:cxnSp>
        <p:nvCxnSpPr>
          <p:cNvPr id="10" name="直接连接符 2"/>
          <p:cNvCxnSpPr/>
          <p:nvPr userDrawn="1"/>
        </p:nvCxnSpPr>
        <p:spPr>
          <a:xfrm>
            <a:off x="361492" y="879000"/>
            <a:ext cx="11469016" cy="0"/>
          </a:xfrm>
          <a:prstGeom prst="line">
            <a:avLst/>
          </a:prstGeom>
          <a:ln w="28575">
            <a:solidFill>
              <a:srgbClr val="385AA4"/>
            </a:solidFill>
          </a:ln>
        </p:spPr>
        <p:style>
          <a:lnRef idx="1">
            <a:schemeClr val="accent1"/>
          </a:lnRef>
          <a:fillRef idx="0">
            <a:schemeClr val="accent1"/>
          </a:fillRef>
          <a:effectRef idx="0">
            <a:schemeClr val="accent1"/>
          </a:effectRef>
          <a:fontRef idx="minor">
            <a:schemeClr val="tx1"/>
          </a:fontRef>
        </p:style>
      </p:cxnSp>
      <p:sp>
        <p:nvSpPr>
          <p:cNvPr id="14" name="椭圆 13"/>
          <p:cNvSpPr/>
          <p:nvPr userDrawn="1"/>
        </p:nvSpPr>
        <p:spPr>
          <a:xfrm>
            <a:off x="11686448" y="6499065"/>
            <a:ext cx="288121" cy="288121"/>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13" name="文本框 12"/>
          <p:cNvSpPr txBox="1"/>
          <p:nvPr userDrawn="1"/>
        </p:nvSpPr>
        <p:spPr>
          <a:xfrm>
            <a:off x="11675815" y="6467540"/>
            <a:ext cx="307910" cy="340912"/>
          </a:xfrm>
          <a:prstGeom prst="rect">
            <a:avLst/>
          </a:prstGeom>
          <a:noFill/>
        </p:spPr>
        <p:txBody>
          <a:bodyPr wrap="none" rtlCol="0">
            <a:noAutofit/>
          </a:bodyPr>
          <a:lstStyle/>
          <a:p>
            <a:pPr algn="ctr"/>
            <a:fld id="{A3F35204-DFFB-A947-BE2B-25CB3E0633F6}" type="slidenum">
              <a:rPr kumimoji="1" lang="zh-CN" altLang="en-US" sz="1600" smtClean="0">
                <a:solidFill>
                  <a:schemeClr val="bg1"/>
                </a:solidFill>
                <a:latin typeface="Arial" panose="020B0604020202020204" pitchFamily="34" charset="0"/>
                <a:cs typeface="Arial" panose="020B0604020202020204" pitchFamily="34" charset="0"/>
              </a:rPr>
            </a:fld>
            <a:endParaRPr kumimoji="1" lang="zh-CN" altLang="en-US" sz="1600" dirty="0">
              <a:solidFill>
                <a:schemeClr val="bg1"/>
              </a:solidFill>
              <a:latin typeface="Arial" panose="020B0604020202020204" pitchFamily="34" charset="0"/>
              <a:cs typeface="Arial" panose="020B0604020202020204" pitchFamily="34" charset="0"/>
            </a:endParaRPr>
          </a:p>
        </p:txBody>
      </p:sp>
      <p:sp>
        <p:nvSpPr>
          <p:cNvPr id="21" name="标题 20"/>
          <p:cNvSpPr>
            <a:spLocks noGrp="1"/>
          </p:cNvSpPr>
          <p:nvPr>
            <p:ph type="title"/>
          </p:nvPr>
        </p:nvSpPr>
        <p:spPr>
          <a:xfrm>
            <a:off x="361492" y="146627"/>
            <a:ext cx="10972800" cy="774447"/>
          </a:xfrm>
        </p:spPr>
        <p:txBody>
          <a:bodyPr>
            <a:normAutofit/>
          </a:bodyPr>
          <a:lstStyle>
            <a:lvl1pPr algn="l">
              <a:defRPr sz="3200" b="1">
                <a:solidFill>
                  <a:srgbClr val="194297"/>
                </a:solidFill>
                <a:latin typeface="微软雅黑" panose="020B0503020204020204" pitchFamily="34" charset="-122"/>
                <a:ea typeface="微软雅黑" panose="020B0503020204020204" pitchFamily="34" charset="-122"/>
              </a:defRPr>
            </a:lvl1pPr>
          </a:lstStyle>
          <a:p>
            <a:r>
              <a:rPr kumimoji="1" lang="zh-CN" altLang="en-US" dirty="0"/>
              <a:t>单击此处编辑母版标题样式</a:t>
            </a:r>
            <a:endParaRPr kumimoji="1"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B3551FA5-A072-C74F-B9AC-F2D758607E96}" type="datetime1">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184837EA-8E75-5C46-B6C5-33E17701B5D3}" type="slidenum">
              <a:rPr kumimoji="1" lang="zh-CN" altLang="en-US" smtClean="0"/>
            </a:fld>
            <a:endParaRPr kumimoji="1" lang="zh-CN" altLang="en-US"/>
          </a:p>
        </p:txBody>
      </p:sp>
      <p:sp>
        <p:nvSpPr>
          <p:cNvPr id="13" name="内容占位符 12"/>
          <p:cNvSpPr>
            <a:spLocks noGrp="1"/>
          </p:cNvSpPr>
          <p:nvPr>
            <p:ph sz="quarter" idx="13" hasCustomPrompt="1"/>
          </p:nvPr>
        </p:nvSpPr>
        <p:spPr>
          <a:xfrm>
            <a:off x="0" y="2422527"/>
            <a:ext cx="12192001" cy="1610767"/>
          </a:xfrm>
          <a:solidFill>
            <a:srgbClr val="375AA4"/>
          </a:solidFill>
        </p:spPr>
        <p:txBody>
          <a:bodyPr anchor="ctr">
            <a:normAutofit/>
          </a:bodyPr>
          <a:lstStyle>
            <a:lvl1pPr marL="0" indent="0" algn="ctr">
              <a:buNone/>
              <a:defRPr sz="2800">
                <a:latin typeface="黑体" panose="02010609060101010101" pitchFamily="49" charset="-122"/>
                <a:ea typeface="黑体" panose="02010609060101010101" pitchFamily="49" charset="-122"/>
              </a:defRPr>
            </a:lvl1pPr>
          </a:lstStyle>
          <a:p>
            <a:r>
              <a:rPr kumimoji="1" lang="zh-CN" altLang="en-US" sz="2400" dirty="0">
                <a:solidFill>
                  <a:schemeClr val="bg1"/>
                </a:solidFill>
              </a:rPr>
              <a:t>单击此处编辑母版标题样式</a:t>
            </a:r>
            <a:endParaRPr kumimoji="1" lang="zh-CN" altLang="en-US" sz="2400" dirty="0">
              <a:solidFill>
                <a:schemeClr val="bg1"/>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内容页">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361492" y="1051562"/>
            <a:ext cx="11469016" cy="5413406"/>
          </a:xfrm>
        </p:spPr>
        <p:txBody>
          <a:bodyPr>
            <a:normAutofit/>
          </a:bodyPr>
          <a:lstStyle>
            <a:lvl1pPr>
              <a:lnSpc>
                <a:spcPct val="130000"/>
              </a:lnSpc>
              <a:defRPr sz="2800">
                <a:solidFill>
                  <a:schemeClr val="tx1"/>
                </a:solidFill>
                <a:latin typeface="Comic Sans MS" panose="030F0702030302020204" pitchFamily="66" charset="0"/>
                <a:ea typeface="微软雅黑" panose="020B0503020204020204" pitchFamily="34" charset="-122"/>
              </a:defRPr>
            </a:lvl1pPr>
            <a:lvl2pPr>
              <a:lnSpc>
                <a:spcPct val="130000"/>
              </a:lnSpc>
              <a:defRPr sz="2400">
                <a:solidFill>
                  <a:schemeClr val="tx1"/>
                </a:solidFill>
                <a:latin typeface="Comic Sans MS" panose="030F0702030302020204" pitchFamily="66" charset="0"/>
                <a:ea typeface="微软雅黑" panose="020B0503020204020204" pitchFamily="34" charset="-122"/>
              </a:defRPr>
            </a:lvl2pPr>
            <a:lvl3pPr>
              <a:lnSpc>
                <a:spcPct val="130000"/>
              </a:lnSpc>
              <a:defRPr sz="2400">
                <a:solidFill>
                  <a:schemeClr val="tx1"/>
                </a:solidFill>
                <a:latin typeface="Comic Sans MS" panose="030F0702030302020204" pitchFamily="66" charset="0"/>
                <a:ea typeface="微软雅黑" panose="020B0503020204020204" pitchFamily="34" charset="-122"/>
              </a:defRPr>
            </a:lvl3pPr>
            <a:lvl4pPr>
              <a:lnSpc>
                <a:spcPct val="130000"/>
              </a:lnSpc>
              <a:defRPr sz="2400">
                <a:solidFill>
                  <a:schemeClr val="tx1"/>
                </a:solidFill>
                <a:latin typeface="Comic Sans MS" panose="030F0702030302020204" pitchFamily="66" charset="0"/>
                <a:ea typeface="微软雅黑" panose="020B0503020204020204" pitchFamily="34" charset="-122"/>
              </a:defRPr>
            </a:lvl4pPr>
            <a:lvl5pPr>
              <a:lnSpc>
                <a:spcPct val="130000"/>
              </a:lnSpc>
              <a:defRPr sz="2400">
                <a:solidFill>
                  <a:schemeClr val="tx1"/>
                </a:solidFill>
                <a:latin typeface="Comic Sans MS" panose="030F0702030302020204" pitchFamily="66" charset="0"/>
                <a:ea typeface="微软雅黑" panose="020B0503020204020204" pitchFamily="34" charset="-122"/>
              </a:defRPr>
            </a:lvl5pPr>
          </a:lstStyle>
          <a:p>
            <a:pPr lvl="0"/>
            <a:r>
              <a:rPr kumimoji="1" lang="en-US" altLang="zh-CN" dirty="0"/>
              <a:t>Headline</a:t>
            </a:r>
            <a:endParaRPr kumimoji="1" lang="zh-CN" altLang="en-US" dirty="0"/>
          </a:p>
          <a:p>
            <a:pPr lvl="1"/>
            <a:r>
              <a:rPr kumimoji="1" lang="zh-CN" altLang="en-US" dirty="0"/>
              <a:t>第二级</a:t>
            </a:r>
            <a:endParaRPr kumimoji="1" lang="zh-CN" altLang="en-US" dirty="0"/>
          </a:p>
          <a:p>
            <a:pPr lvl="2"/>
            <a:r>
              <a:rPr kumimoji="1" lang="zh-CN" altLang="en-US" dirty="0"/>
              <a:t>第三级</a:t>
            </a:r>
            <a:endParaRPr kumimoji="1" lang="zh-CN" altLang="en-US" dirty="0"/>
          </a:p>
          <a:p>
            <a:pPr lvl="3"/>
            <a:r>
              <a:rPr kumimoji="1" lang="zh-CN" altLang="en-US" dirty="0"/>
              <a:t>第四级</a:t>
            </a:r>
            <a:endParaRPr kumimoji="1" lang="zh-CN" altLang="en-US" dirty="0"/>
          </a:p>
          <a:p>
            <a:pPr lvl="4"/>
            <a:r>
              <a:rPr kumimoji="1" lang="zh-CN" altLang="en-US" dirty="0"/>
              <a:t>第五级</a:t>
            </a:r>
            <a:endParaRPr kumimoji="1" lang="zh-CN" altLang="en-US" dirty="0"/>
          </a:p>
        </p:txBody>
      </p:sp>
      <p:cxnSp>
        <p:nvCxnSpPr>
          <p:cNvPr id="10" name="直接连接符 2"/>
          <p:cNvCxnSpPr/>
          <p:nvPr userDrawn="1"/>
        </p:nvCxnSpPr>
        <p:spPr>
          <a:xfrm>
            <a:off x="361492" y="879000"/>
            <a:ext cx="11469016" cy="0"/>
          </a:xfrm>
          <a:prstGeom prst="line">
            <a:avLst/>
          </a:prstGeom>
          <a:ln w="28575">
            <a:solidFill>
              <a:srgbClr val="385AA4"/>
            </a:solidFill>
          </a:ln>
        </p:spPr>
        <p:style>
          <a:lnRef idx="1">
            <a:schemeClr val="accent1"/>
          </a:lnRef>
          <a:fillRef idx="0">
            <a:schemeClr val="accent1"/>
          </a:fillRef>
          <a:effectRef idx="0">
            <a:schemeClr val="accent1"/>
          </a:effectRef>
          <a:fontRef idx="minor">
            <a:schemeClr val="tx1"/>
          </a:fontRef>
        </p:style>
      </p:cxnSp>
      <p:sp>
        <p:nvSpPr>
          <p:cNvPr id="14" name="椭圆 13"/>
          <p:cNvSpPr/>
          <p:nvPr userDrawn="1"/>
        </p:nvSpPr>
        <p:spPr>
          <a:xfrm>
            <a:off x="11686448" y="6499065"/>
            <a:ext cx="288121" cy="288121"/>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13" name="文本框 12"/>
          <p:cNvSpPr txBox="1"/>
          <p:nvPr userDrawn="1"/>
        </p:nvSpPr>
        <p:spPr>
          <a:xfrm>
            <a:off x="11675815" y="6467540"/>
            <a:ext cx="307910" cy="340912"/>
          </a:xfrm>
          <a:prstGeom prst="rect">
            <a:avLst/>
          </a:prstGeom>
          <a:noFill/>
        </p:spPr>
        <p:txBody>
          <a:bodyPr wrap="none" rtlCol="0">
            <a:noAutofit/>
          </a:bodyPr>
          <a:lstStyle/>
          <a:p>
            <a:pPr algn="ctr"/>
            <a:fld id="{A3F35204-DFFB-A947-BE2B-25CB3E0633F6}" type="slidenum">
              <a:rPr kumimoji="1" lang="zh-CN" altLang="en-US" sz="1600" smtClean="0">
                <a:solidFill>
                  <a:schemeClr val="bg1"/>
                </a:solidFill>
                <a:latin typeface="Arial" panose="020B0604020202020204" pitchFamily="34" charset="0"/>
                <a:cs typeface="Arial" panose="020B0604020202020204" pitchFamily="34" charset="0"/>
              </a:rPr>
            </a:fld>
            <a:endParaRPr kumimoji="1" lang="zh-CN" altLang="en-US" sz="1600" dirty="0">
              <a:solidFill>
                <a:schemeClr val="bg1"/>
              </a:solidFill>
              <a:latin typeface="Arial" panose="020B0604020202020204" pitchFamily="34" charset="0"/>
              <a:cs typeface="Arial" panose="020B0604020202020204" pitchFamily="34" charset="0"/>
            </a:endParaRPr>
          </a:p>
        </p:txBody>
      </p:sp>
      <p:sp>
        <p:nvSpPr>
          <p:cNvPr id="21" name="标题 20"/>
          <p:cNvSpPr>
            <a:spLocks noGrp="1"/>
          </p:cNvSpPr>
          <p:nvPr>
            <p:ph type="title"/>
          </p:nvPr>
        </p:nvSpPr>
        <p:spPr>
          <a:xfrm>
            <a:off x="361492" y="146627"/>
            <a:ext cx="10972800" cy="774447"/>
          </a:xfrm>
        </p:spPr>
        <p:txBody>
          <a:bodyPr>
            <a:normAutofit/>
          </a:bodyPr>
          <a:lstStyle>
            <a:lvl1pPr algn="l">
              <a:defRPr sz="3200" b="1">
                <a:solidFill>
                  <a:srgbClr val="194297"/>
                </a:solidFill>
                <a:latin typeface="微软雅黑" panose="020B0503020204020204" pitchFamily="34" charset="-122"/>
                <a:ea typeface="微软雅黑" panose="020B0503020204020204" pitchFamily="34" charset="-122"/>
              </a:defRPr>
            </a:lvl1pPr>
          </a:lstStyle>
          <a:p>
            <a:r>
              <a:rPr kumimoji="1" lang="zh-CN" altLang="en-US" dirty="0"/>
              <a:t>单击此处编辑母版标题样式</a:t>
            </a:r>
            <a:endParaRPr kumimoji="1"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
        <p:nvSpPr>
          <p:cNvPr id="3" name="文本占位符 2"/>
          <p:cNvSpPr>
            <a:spLocks noGrp="1"/>
          </p:cNvSpPr>
          <p:nvPr>
            <p:ph type="body" idx="1"/>
          </p:nvPr>
        </p:nvSpPr>
        <p:spPr>
          <a:xfrm>
            <a:off x="609600" y="1600204"/>
            <a:ext cx="10972800" cy="4525963"/>
          </a:xfrm>
          <a:prstGeom prst="rect">
            <a:avLst/>
          </a:prstGeom>
        </p:spPr>
        <p:txBody>
          <a:bodyPr vert="horz" lIns="91440" tIns="45720" rIns="91440" bIns="45720" rtlCol="0">
            <a:normAutofit/>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2"/>
          </p:nvPr>
        </p:nvSpPr>
        <p:spPr>
          <a:xfrm>
            <a:off x="596912" y="6657628"/>
            <a:ext cx="2844800" cy="200375"/>
          </a:xfrm>
          <a:prstGeom prst="rect">
            <a:avLst/>
          </a:prstGeom>
        </p:spPr>
        <p:txBody>
          <a:bodyPr vert="horz" lIns="91440" tIns="45720" rIns="91440" bIns="45720" rtlCol="0" anchor="ctr"/>
          <a:lstStyle>
            <a:lvl1pPr algn="l">
              <a:defRPr sz="900">
                <a:solidFill>
                  <a:schemeClr val="bg1"/>
                </a:solidFill>
              </a:defRPr>
            </a:lvl1pPr>
          </a:lstStyle>
          <a:p>
            <a:fld id="{B3551FA5-A072-C74F-B9AC-F2D758607E96}" type="datetime1">
              <a:rPr kumimoji="1" lang="zh-CN" altLang="en-US" smtClean="0"/>
            </a:fld>
            <a:endParaRPr kumimoji="1" lang="zh-CN" altLang="en-US"/>
          </a:p>
        </p:txBody>
      </p:sp>
      <p:sp>
        <p:nvSpPr>
          <p:cNvPr id="5" name="页脚占位符 4"/>
          <p:cNvSpPr>
            <a:spLocks noGrp="1"/>
          </p:cNvSpPr>
          <p:nvPr>
            <p:ph type="ftr" sz="quarter" idx="3"/>
          </p:nvPr>
        </p:nvSpPr>
        <p:spPr>
          <a:xfrm>
            <a:off x="4271797" y="6657628"/>
            <a:ext cx="3860800" cy="173739"/>
          </a:xfrm>
          <a:prstGeom prst="rect">
            <a:avLst/>
          </a:prstGeom>
        </p:spPr>
        <p:txBody>
          <a:bodyPr vert="horz" lIns="91440" tIns="45720" rIns="91440" bIns="45720" rtlCol="0" anchor="ctr"/>
          <a:lstStyle>
            <a:lvl1pPr algn="ctr">
              <a:defRPr sz="900">
                <a:solidFill>
                  <a:schemeClr val="bg1"/>
                </a:solidFill>
              </a:defRPr>
            </a:lvl1pPr>
          </a:lstStyle>
          <a:p>
            <a:endParaRPr kumimoji="1" lang="zh-CN" altLang="en-US"/>
          </a:p>
        </p:txBody>
      </p:sp>
      <p:sp>
        <p:nvSpPr>
          <p:cNvPr id="6" name="幻灯片编号占位符 5"/>
          <p:cNvSpPr>
            <a:spLocks noGrp="1"/>
          </p:cNvSpPr>
          <p:nvPr>
            <p:ph type="sldNum" sz="quarter" idx="4"/>
          </p:nvPr>
        </p:nvSpPr>
        <p:spPr>
          <a:xfrm>
            <a:off x="8748272" y="6657625"/>
            <a:ext cx="2844800" cy="182562"/>
          </a:xfrm>
          <a:prstGeom prst="rect">
            <a:avLst/>
          </a:prstGeom>
        </p:spPr>
        <p:txBody>
          <a:bodyPr vert="horz" lIns="91440" tIns="45720" rIns="91440" bIns="45720" rtlCol="0" anchor="ctr"/>
          <a:lstStyle>
            <a:lvl1pPr algn="r">
              <a:defRPr sz="900">
                <a:solidFill>
                  <a:schemeClr val="bg1"/>
                </a:solidFill>
              </a:defRPr>
            </a:lvl1pPr>
          </a:lstStyle>
          <a:p>
            <a:fld id="{184837EA-8E75-5C46-B6C5-33E17701B5D3}"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dt="0"/>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342900" rtl="0" eaLnBrk="1" latinLnBrk="0" hangingPunct="1">
        <a:spcBef>
          <a:spcPct val="20000"/>
        </a:spcBef>
        <a:buFont typeface="Arial" panose="020B0604020202020204"/>
        <a:buChar char="•"/>
        <a:defRPr sz="2400" kern="1200">
          <a:solidFill>
            <a:schemeClr val="tx1"/>
          </a:solidFill>
          <a:latin typeface="+mn-lt"/>
          <a:ea typeface="+mn-ea"/>
          <a:cs typeface="+mn-cs"/>
        </a:defRPr>
      </a:lvl1pPr>
      <a:lvl2pPr marL="557530" indent="-214630" algn="l" defTabSz="342900" rtl="0" eaLnBrk="1" latinLnBrk="0" hangingPunct="1">
        <a:spcBef>
          <a:spcPct val="20000"/>
        </a:spcBef>
        <a:buFont typeface="Arial" panose="020B0604020202020204"/>
        <a:buChar char="–"/>
        <a:defRPr sz="2100" kern="1200">
          <a:solidFill>
            <a:schemeClr val="tx1"/>
          </a:solidFill>
          <a:latin typeface="+mn-lt"/>
          <a:ea typeface="+mn-ea"/>
          <a:cs typeface="+mn-cs"/>
        </a:defRPr>
      </a:lvl2pPr>
      <a:lvl3pPr marL="857250" indent="-171450" algn="l" defTabSz="342900" rtl="0" eaLnBrk="1" latinLnBrk="0" hangingPunct="1">
        <a:spcBef>
          <a:spcPct val="20000"/>
        </a:spcBef>
        <a:buFont typeface="Arial" panose="020B0604020202020204"/>
        <a:buChar char="•"/>
        <a:defRPr sz="1800" kern="1200">
          <a:solidFill>
            <a:schemeClr val="tx1"/>
          </a:solidFill>
          <a:latin typeface="+mn-lt"/>
          <a:ea typeface="+mn-ea"/>
          <a:cs typeface="+mn-cs"/>
        </a:defRPr>
      </a:lvl3pPr>
      <a:lvl4pPr marL="12001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4pPr>
      <a:lvl5pPr marL="15430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p:bodyStyle>
    <p:otherStyle>
      <a:defPPr>
        <a:defRPr lang="zh-CN"/>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内容占位符 1"/>
          <p:cNvSpPr>
            <a:spLocks noGrp="1"/>
          </p:cNvSpPr>
          <p:nvPr>
            <p:ph sz="quarter" idx="13"/>
          </p:nvPr>
        </p:nvSpPr>
        <p:spPr/>
        <p:txBody>
          <a:bodyPr>
            <a:normAutofit/>
          </a:bodyPr>
          <a:lstStyle>
            <a:lvl1pPr>
              <a:defRPr>
                <a:solidFill/>
              </a:defRPr>
            </a:lvl1pPr>
          </a:lstStyle>
          <a:p>
            <a:pPr>
              <a:defRPr>
                <a:solidFill/>
              </a:defRPr>
            </a:pPr>
            <a:r>
              <a:rPr kumimoji="1" lang="en-US" altLang="zh-CN" sz="4000" dirty="0">
                <a:solidFill>
                  <a:schemeClr val="bg1"/>
                </a:solidFill>
                <a:latin typeface="微软雅黑" panose="020B0503020204020204" pitchFamily="34" charset="-122"/>
                <a:ea typeface="微软雅黑" panose="020B0503020204020204" pitchFamily="34" charset="-122"/>
              </a:rPr>
              <a:t>Solving Model Forgetting</a:t>
            </a:r>
            <a:endParaRPr kumimoji="1" lang="en-US" altLang="zh-CN" sz="4000" dirty="0">
              <a:solidFill>
                <a:schemeClr val="bg1"/>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lvl1pPr>
              <a:defRPr>
                <a:solidFill/>
              </a:defRPr>
            </a:lvl1pPr>
          </a:lstStyle>
          <a:p>
            <a:pPr>
              <a:defRPr>
                <a:solidFill/>
              </a:defRPr>
            </a:pPr>
            <a:fld id="{184837EA-8E75-5C46-B6C5-33E17701B5D3}" type="slidenum">
              <a:rPr kumimoji="1" lang="zh-CN" altLang="en-US" smtClean="0"/>
            </a:fld>
            <a:endParaRPr kumimoji="1" lang="zh-CN" altLang="en-US"/>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descr="f8d79f1e_x1.png"/>
          <p:cNvPicPr>
            <a:picLocks noChangeAspect="1"/>
          </p:cNvPicPr>
          <p:nvPr/>
        </p:nvPicPr>
        <p:blipFill>
          <a:blip r:embed="rId2"/>
          <a:stretch>
            <a:fillRect/>
          </a:stretch>
        </p:blipFill>
        <p:spPr>
          <a:xfrm>
            <a:off x="5083176" y="1529226"/>
            <a:ext cx="7086600" cy="2351747"/>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Model Forgetting</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Matrix Update Mechanism</a:t>
            </a:r>
            <a:endParaRPr kumimoji="1" lang="en-US" altLang="zh-CN" dirty="0"/>
          </a:p>
          <a:p>
            <a:pPr marL="0" indent="0">
              <a:lnSpc>
                <a:spcPct val="150000"/>
              </a:lnSpc>
              <a:buFont typeface="Arial" panose="020B0604020202020204"/>
              <a:buNone/>
              <a:defRPr>
                <a:solidFill/>
              </a:defRPr>
            </a:pPr>
            <a:r>
              <a:rPr kumimoji="1" lang="zh-CN" altLang="en-US" sz="2200" dirty="0">
                <a:solidFill/>
              </a:rPr>
              <a:t>Fine-tuning erases knowledge. Visual shows matrices combining to modify components, preventing knowledge loss while adapting.</a:t>
            </a:r>
            <a:endParaRPr kumimoji="1" lang="en-US" altLang="zh-CN" sz="2200" dirty="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descr="1c05ee38_x6.png"/>
          <p:cNvPicPr>
            <a:picLocks noChangeAspect="1"/>
          </p:cNvPicPr>
          <p:nvPr/>
        </p:nvPicPr>
        <p:blipFill>
          <a:blip r:embed="rId2"/>
          <a:stretch>
            <a:fillRect/>
          </a:stretch>
        </p:blipFill>
        <p:spPr>
          <a:xfrm>
            <a:off x="5083176" y="1003300"/>
            <a:ext cx="4255442"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Accuracy Growth</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Grow+Train vs Baseline</a:t>
            </a:r>
            <a:endParaRPr kumimoji="1" lang="en-US" altLang="zh-CN" dirty="0"/>
          </a:p>
          <a:p>
            <a:pPr marL="0" indent="0">
              <a:lnSpc>
                <a:spcPct val="150000"/>
              </a:lnSpc>
              <a:buFont typeface="Arial" panose="020B0604020202020204"/>
              <a:buNone/>
              <a:defRPr>
                <a:solidFill/>
              </a:defRPr>
            </a:pPr>
            <a:r>
              <a:rPr kumimoji="1" lang="zh-CN" altLang="en-US" sz="2200" dirty="0">
                <a:solidFill/>
              </a:rPr>
              <a:t>Grow+train leads finetuning accuracy gains. Original domain stays stable across strategies over 12k steps.</a:t>
            </a:r>
            <a:endParaRPr kumimoji="1" lang="en-US" altLang="zh-CN" sz="2200" dirty="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descr="fb100d1b_x10.png"/>
          <p:cNvPicPr>
            <a:picLocks noChangeAspect="1"/>
          </p:cNvPicPr>
          <p:nvPr/>
        </p:nvPicPr>
        <p:blipFill>
          <a:blip r:embed="rId2"/>
          <a:stretch>
            <a:fillRect/>
          </a:stretch>
        </p:blipFill>
        <p:spPr>
          <a:xfrm>
            <a:off x="5083176" y="1003300"/>
            <a:ext cx="5103139"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Layer Stability</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Accuracy Across Layers</a:t>
            </a:r>
            <a:endParaRPr kumimoji="1" lang="en-US" altLang="zh-CN" dirty="0"/>
          </a:p>
          <a:p>
            <a:pPr marL="0" indent="0">
              <a:lnSpc>
                <a:spcPct val="150000"/>
              </a:lnSpc>
              <a:buFont typeface="Arial" panose="020B0604020202020204"/>
              <a:buNone/>
              <a:defRPr>
                <a:solidFill/>
              </a:defRPr>
            </a:pPr>
            <a:r>
              <a:rPr kumimoji="1" lang="zh-CN" altLang="en-US" sz="2200" dirty="0">
                <a:solidFill/>
              </a:rPr>
              <a:t>Accuracy stable across 1-15 layers. Original domain stays high. Fine-tuning improves. Prevents knowledge collapse.</a:t>
            </a:r>
            <a:endParaRPr kumimoji="1" lang="en-US" altLang="zh-CN" sz="2200" dirty="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descr="a0c94b77_x12.png"/>
          <p:cNvPicPr>
            <a:picLocks noChangeAspect="1"/>
          </p:cNvPicPr>
          <p:nvPr/>
        </p:nvPicPr>
        <p:blipFill>
          <a:blip r:embed="rId2"/>
          <a:stretch>
            <a:fillRect/>
          </a:stretch>
        </p:blipFill>
        <p:spPr>
          <a:xfrm>
            <a:off x="5083176" y="1003300"/>
            <a:ext cx="5505249"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Segment View</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Data Segment Analysis</a:t>
            </a:r>
            <a:endParaRPr kumimoji="1" lang="en-US" altLang="zh-CN" dirty="0"/>
          </a:p>
          <a:p>
            <a:pPr marL="0" indent="0">
              <a:lnSpc>
                <a:spcPct val="150000"/>
              </a:lnSpc>
              <a:buFont typeface="Arial" panose="020B0604020202020204"/>
              <a:buNone/>
              <a:defRPr>
                <a:solidFill/>
              </a:defRPr>
            </a:pPr>
            <a:r>
              <a:rPr kumimoji="1" lang="zh-CN" altLang="en-US" sz="2200" dirty="0">
                <a:solidFill/>
              </a:rPr>
              <a:t>Bars show 26 categories. G-Freeze retains knowledge. Baseline fails on shifts. Gradients indicate contribution density.</a:t>
            </a:r>
            <a:endParaRPr kumimoji="1" lang="en-US" altLang="zh-CN" sz="2200"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descr="d428dc09_x19.png"/>
          <p:cNvPicPr>
            <a:picLocks noChangeAspect="1"/>
          </p:cNvPicPr>
          <p:nvPr/>
        </p:nvPicPr>
        <p:blipFill>
          <a:blip r:embed="rId2"/>
          <a:stretch>
            <a:fillRect/>
          </a:stretch>
        </p:blipFill>
        <p:spPr>
          <a:xfrm>
            <a:off x="5083176" y="1003300"/>
            <a:ext cx="4761665"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Init Ablation</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Accuracy &amp; BLEU Trends</a:t>
            </a:r>
            <a:endParaRPr kumimoji="1" lang="en-US" altLang="zh-CN" dirty="0"/>
          </a:p>
          <a:p>
            <a:pPr marL="0" indent="0">
              <a:lnSpc>
                <a:spcPct val="150000"/>
              </a:lnSpc>
              <a:buFont typeface="Arial" panose="020B0604020202020204"/>
              <a:buNone/>
              <a:defRPr>
                <a:solidFill/>
              </a:defRPr>
            </a:pPr>
            <a:r>
              <a:rPr kumimoji="1" lang="zh-CN" altLang="en-US" sz="2200" dirty="0">
                <a:solidFill/>
              </a:rPr>
              <a:t>Notice 'ours' lines stay high while zero init drops. Shows robustness across 50 steps for 1 and 3 layer configs.</a:t>
            </a:r>
            <a:endParaRPr kumimoji="1" lang="en-US" altLang="zh-CN" sz="2200" dirty="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descr="73e778e9_x18.png"/>
          <p:cNvPicPr>
            <a:picLocks noChangeAspect="1"/>
          </p:cNvPicPr>
          <p:nvPr/>
        </p:nvPicPr>
        <p:blipFill>
          <a:blip r:embed="rId2"/>
          <a:stretch>
            <a:fillRect/>
          </a:stretch>
        </p:blipFill>
        <p:spPr>
          <a:xfrm>
            <a:off x="5083176" y="1003300"/>
            <a:ext cx="4255442"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Final Results</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Accuracy Trend Summary</a:t>
            </a:r>
            <a:endParaRPr kumimoji="1" lang="en-US" altLang="zh-CN" dirty="0"/>
          </a:p>
          <a:p>
            <a:pPr marL="0" indent="0">
              <a:lnSpc>
                <a:spcPct val="150000"/>
              </a:lnSpc>
              <a:buFont typeface="Arial" panose="020B0604020202020204"/>
              <a:buNone/>
              <a:defRPr>
                <a:solidFill/>
              </a:defRPr>
            </a:pPr>
            <a:r>
              <a:rPr kumimoji="1" lang="zh-CN" altLang="en-US" sz="2200" dirty="0">
                <a:solidFill/>
              </a:rPr>
              <a:t>"Ours all" exceeds vanilla in both domains. Graph confirms consistent accuracy growth without forgetting over steps.</a:t>
            </a:r>
            <a:endParaRPr kumimoji="1" lang="en-US" altLang="zh-CN" sz="2200" dirty="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灯片编号占位符 1"/>
          <p:cNvSpPr>
            <a:spLocks noGrp="1"/>
          </p:cNvSpPr>
          <p:nvPr>
            <p:ph type="sldNum" sz="quarter" idx="12"/>
          </p:nvPr>
        </p:nvSpPr>
        <p:spPr/>
        <p:txBody>
          <a:bodyPr/>
          <a:lstStyle>
            <a:lvl1pPr>
              <a:defRPr>
                <a:solidFill/>
              </a:defRPr>
            </a:lvl1pPr>
          </a:lstStyle>
          <a:p>
            <a:pPr>
              <a:defRPr>
                <a:solidFill/>
              </a:defRPr>
            </a:pPr>
            <a:fld id="{184837EA-8E75-5C46-B6C5-33E17701B5D3}" type="slidenum">
              <a:rPr kumimoji="1" lang="zh-CN" altLang="en-US" smtClean="0"/>
            </a:fld>
            <a:endParaRPr kumimoji="1" lang="zh-CN" altLang="en-US"/>
          </a:p>
        </p:txBody>
      </p:sp>
      <p:sp>
        <p:nvSpPr>
          <p:cNvPr id="3" name="内容占位符 2"/>
          <p:cNvSpPr>
            <a:spLocks noGrp="1"/>
          </p:cNvSpPr>
          <p:nvPr>
            <p:ph sz="quarter" idx="13"/>
          </p:nvPr>
        </p:nvSpPr>
        <p:spPr/>
        <p:txBody>
          <a:bodyPr>
            <a:normAutofit/>
          </a:bodyPr>
          <a:lstStyle>
            <a:lvl1pPr>
              <a:defRPr>
                <a:solidFill/>
              </a:defRPr>
            </a:lvl1pPr>
          </a:lstStyle>
          <a:p>
            <a:pPr>
              <a:defRPr>
                <a:solidFill/>
              </a:defRPr>
            </a:pPr>
            <a:r>
              <a:rPr kumimoji="1" lang="zh-CN" altLang="en-US" sz="4800" dirty="0">
                <a:solidFill>
                  <a:schemeClr val="bg1"/>
                </a:solidFill>
              </a:rPr>
              <a:t>Thank You!</a:t>
            </a:r>
            <a:endParaRPr kumimoji="1" lang="zh-CN" altLang="en-US" sz="4800" dirty="0">
              <a:solidFill>
                <a:schemeClr val="bg1"/>
              </a:solidFill>
            </a:endParaRPr>
          </a:p>
        </p:txBody>
      </p:sp>
    </p:spTree>
  </p:cSld>
  <p:clrMapOvr>
    <a:masterClrMapping/>
  </p:clrMapOvr>
</p:sld>
</file>

<file path=ppt/theme/theme1.xml><?xml version="1.0" encoding="utf-8"?>
<a:theme xmlns:a="http://schemas.openxmlformats.org/drawingml/2006/main" name="CNIC">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2249</Words>
  <Application>WPS 演示</Application>
  <PresentationFormat>宽屏</PresentationFormat>
  <Paragraphs>56</Paragraphs>
  <Slides>10</Slides>
  <Notes>6</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10</vt:i4>
      </vt:variant>
    </vt:vector>
  </HeadingPairs>
  <TitlesOfParts>
    <vt:vector size="21" baseType="lpstr">
      <vt:lpstr>Arial</vt:lpstr>
      <vt:lpstr>宋体</vt:lpstr>
      <vt:lpstr>Wingdings</vt:lpstr>
      <vt:lpstr>Arial</vt:lpstr>
      <vt:lpstr>黑体</vt:lpstr>
      <vt:lpstr>微软雅黑</vt:lpstr>
      <vt:lpstr>Comic Sans MS</vt:lpstr>
      <vt:lpstr>Calibri</vt:lpstr>
      <vt:lpstr>Arial Unicode MS</vt:lpstr>
      <vt:lpstr>等线</vt:lpstr>
      <vt:lpstr>CNIC</vt:lpstr>
      <vt:lpstr>PowerPoint 演示文稿</vt:lpstr>
      <vt:lpstr>What are Agents?</vt:lpstr>
      <vt:lpstr>When (and when not) to use Agents</vt:lpstr>
      <vt:lpstr>Common Frameworks for Agents</vt:lpstr>
      <vt:lpstr>Building Blocks and Workflows</vt:lpstr>
      <vt:lpstr>Agents in Practice</vt:lpstr>
      <vt:lpstr>Key Principles for Building Effective Agents</vt:lpstr>
      <vt:lpstr>LLM Interaction</vt:lpstr>
      <vt:lpstr>LLM Call Generator and Evaluator</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吴炜</cp:lastModifiedBy>
  <cp:revision>35</cp:revision>
  <dcterms:created xsi:type="dcterms:W3CDTF">2026-04-30T11:51:00Z</dcterms:created>
  <dcterms:modified xsi:type="dcterms:W3CDTF">2026-04-30T11:53:04Z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4DA4DB001A1F41158937266F0B7928E7_12</vt:lpwstr>
  </property>
  <property fmtid="{D5CDD505-2E9C-101B-9397-08002B2CF9AE}" pid="3" name="KSOProductBuildVer">
    <vt:lpwstr>2052-12.1.0.25865</vt:lpwstr>
  </property>
</Properties>
</file>