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package/2006/relationships/metadata/thumbnail" Target="docProps/thumbnail.jpeg"/><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3"/>
  </p:notesMasterIdLst>
  <p:sldIdLst>
    <p:sldId id="256" r:id="rId8"/>
    <p:sldId id="257" r:id="rId9"/>
    <p:sldId id="258" r:id="rId10"/>
    <p:sldId id="259" r:id="rId11"/>
    <p:sldId id="260" r:id="rId12"/>
    <p:sldId id="261" r:id="rId7"/>
    <p:sldId id="262" r:id="rId6"/>
    <p:sldId id="263" r:id="rId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324BF8E4-71D8-5144-BD12-393016A0C3FF}">
          <p14:sldIdLst>
            <p14:sldId id="256"/>
            <p14:sldId id="257"/>
            <p14:sldId id="258"/>
            <p14:sldId id="259"/>
            <p14:sldId id="260"/>
            <p14:sldId id="261"/>
            <p14:sldId id="262"/>
            <p14:sldId id="263"/>
            <p14:sldId id="264"/>
            <p14:sldId id="265"/>
          </p14:sldIdLst>
        </p14:section>
      </p14:sectionLst>
    </p:ext>
    <p:ext uri="{EFAFB233-063F-42B5-8137-9DF3F51BA10A}">
      <p15:sldGuideLst xmlns:p15="http://schemas.microsoft.com/office/powerpoint/2012/main">
        <p15:guide id="1" orient="horz" pos="2364" userDrawn="1">
          <p15:clr>
            <a:srgbClr val="A4A3A4"/>
          </p15:clr>
        </p15:guide>
        <p15:guide id="2" pos="3817"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IU JIA" initials="LJ" lastIdx="3" clrIdx="0"/>
  <p:cmAuthor id="2" name="Ludovic Liu" initials="LL" lastIdx="2" clrIdx="1"/>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886"/>
    <p:restoredTop sz="94607"/>
  </p:normalViewPr>
  <p:slideViewPr>
    <p:cSldViewPr showGuides="1">
      <p:cViewPr varScale="1">
        <p:scale>
          <a:sx n="91" d="100"/>
          <a:sy n="91" d="100"/>
        </p:scale>
        <p:origin x="224" y="888"/>
      </p:cViewPr>
      <p:guideLst>
        <p:guide orient="horz" pos="2364"/>
        <p:guide pos="3817"/>
      </p:guideLst>
    </p:cSldViewPr>
  </p:slideViewPr>
  <p:notesTextViewPr>
    <p:cViewPr>
      <p:scale>
        <a:sx n="1" d="1"/>
        <a:sy n="1" d="1"/>
      </p:scale>
      <p:origin x="0" y="0"/>
    </p:cViewPr>
  </p:notesTextViewPr>
  <p:notesViewPr>
    <p:cSldViewPr>
      <p:cViewPr varScale="1">
        <p:scale>
          <a:sx n="66" d="100"/>
          <a:sy n="66" d="100"/>
        </p:scale>
        <p:origin x="0" y="0"/>
      </p:cViewPr>
      <p:guideLst/>
    </p:cSldViewPr>
  </p:notesViewPr>
  <p:gridSpacing cx="45005" cy="45005"/>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5" Type="http://schemas.openxmlformats.org/officeDocument/2006/relationships/slide" Target="slides/slide8.xml"/><Relationship Id="rId6" Type="http://schemas.openxmlformats.org/officeDocument/2006/relationships/slide" Target="slides/slide7.xml"/><Relationship Id="rId7" Type="http://schemas.openxmlformats.org/officeDocument/2006/relationships/slide" Target="slides/slide6.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ableStyles" Target="tableStyles.xml"/><Relationship Id="rId17"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8798786-8DB6-F04C-9F57-77556B8E1BF3}" type="datetimeFigureOut">
              <a:rPr kumimoji="1" lang="zh-CN" altLang="en-US" smtClean="0"/>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593EE2F-51E3-E245-8187-288F33EED691}"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A: Welcome everyone as we begin this session on the functional layout design proposed in this deck.</a:t>
            </a:r>
          </a:p>
          <a:p>
            <a:r>
              <a:t>Speaker B: This opening slide serves to anchor us with the essential meta information before we proceed.</a:t>
            </a:r>
          </a:p>
          <a:p>
            <a:r>
              <a:t>Speaker A: You will see the project title and authorship details here that define the scope of our work.</a:t>
            </a:r>
          </a:p>
          <a:p>
            <a:r>
              <a:t>Speaker B: Another way to say this is that it ensures we are all aligned on the version and timeline of this analysis.</a:t>
            </a:r>
          </a:p>
          <a:p>
            <a:r>
              <a:t>Speaker A: With that context established, let us move forward to examine the actual layout structure.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A: Existing benchmarks evaluate models only once against complete specifications, measuring only correctness. This systematically undermeasures architectural deterioration during repeated editing.</a:t>
            </a:r>
          </a:p>
          <a:p>
            <a:r>
              <a:t>Speaker B: Another way to say this is that they ignore extensibility and code quality under future change.</a:t>
            </a:r>
          </a:p>
          <a:p>
            <a:r>
              <a:t>Speaker A: SlopCodeBench fixes this with 20 iterative problems and 93 checkpoints that specify external behavior while leaving internal structure unconstrained.</a:t>
            </a:r>
          </a:p>
          <a:p>
            <a:r>
              <a:t>Speaker B: Empirical results show no agent solves problems end-to-end, with agent code being 2.2 times more verbose and eroded than maintained repositories.</a:t>
            </a:r>
          </a:p>
          <a:p>
            <a:r>
              <a:t>Speaker A: Crucially, the maximum checkpoint solve rate is only 17.2 percent, and quality-aware prompts do not slow this deterioration.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A: This slide highlights a critical bottleneck where no agent fully solves any problem end-to-end, with Opus 4.6 leading at just a 17.2 percent strict solve rate.</a:t>
            </a:r>
          </a:p>
          <a:p>
            <a:r>
              <a:t>Speaker B: That performance ceiling is paired with worsening efficiency, as costs grow 2.9 times across checkpoints without improving overall correctness.</a:t>
            </a:r>
          </a:p>
          <a:p>
            <a:r>
              <a:t>Speaker A: Looking at the graph, you can see solve rates decrease over stages while the cost per checkpoint increases steadily from start to final.</a:t>
            </a:r>
          </a:p>
          <a:p>
            <a:r>
              <a:t>Speaker B: And this matters because error-handling tests drive most declines, widening the gap between core and isolated rates up to 13.3 times.</a:t>
            </a:r>
          </a:p>
          <a:p>
            <a:r>
              <a:t>Speaker A: Ultimately, this indicates substantial limitations in current agent capabilities, where scaling costs does not translate to scaling performance.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A: Looking at the performance statistics, no agent currently solves all twenty problems end-to-end. Opus 4.6 leads the group, but even it achieves only a 17.2% strict solve rate.</a:t>
            </a:r>
          </a:p>
          <a:p>
            <a:r>
              <a:t>Speaker B: That highlights a significant disparity between potential and execution. While core rates reach up to 53.8%, the isolated pass rates remain much lower, ranging from just 7.5 to 23.7%.</a:t>
            </a:r>
          </a:p>
          <a:p>
            <a:r>
              <a:t>Speaker A: As checkpoints advance in the visual, the gap between those core and isolated pass rates widens significantly from 1.4 times to 13.3 times. Simultaneously, costs grow 2.9 times without corresponding improvements in correctness.</a:t>
            </a:r>
          </a:p>
          <a:p>
            <a:r>
              <a:t>Speaker B: Exactly, and the line graphs show that error-handling tests drive most of this performance decline. We are essentially paying more for verbosity rather than structural reliability.</a:t>
            </a:r>
          </a:p>
          <a:p>
            <a:r>
              <a:t>Speaker A: So the key takeaway is that model-specific degradation patterns are worsening despite higher costs. We need to address structural erosion rather than just scaling compute.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A: Even the best agent reaches only a seventeen percent strict solve rate, with costs increasing nearly threefold without improving correctness.</a:t>
            </a:r>
          </a:p>
          <a:p>
            <a:r>
              <a:t>Speaker B: Right, and that efficiency gap is compounded by code quality issues where agents concentrate complexity and drive up verbosity significantly.</a:t>
            </a:r>
          </a:p>
          <a:p>
            <a:r>
              <a:t>Speaker A: As the chart shows, structural erosion and verbosity rise sharply for agents over time, whereas human repositories remain stable.</a:t>
            </a:r>
          </a:p>
          <a:p>
            <a:r>
              <a:t>Speaker B: This indicates that seventy-nine percent of trajectories show rising erosion compared to no verbosity drift in human commits.</a:t>
            </a:r>
          </a:p>
          <a:p>
            <a:r>
              <a:t>Speaker A: We need to prioritize structural stability alongside solve rates to prevent unsustainable technical debt accumulation.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A: We need to assess whether prompt strategies like Plan First and Anti Slop effectively halt degradation across our benchmark metrics.</a:t>
            </a:r>
          </a:p>
          <a:p>
            <a:r>
              <a:t>Speaker B: The critical finding is that while these strategies reduce initial verbosity, they fail to improve the core pass rates during iteration.</a:t>
            </a:r>
          </a:p>
          <a:p>
            <a:r>
              <a:t>Speaker A: Looking at the line graph, verbosity drops by thirty-four point five percent, yet the degradation slopes for structural erosion and test pass rates remain unchanged.</a:t>
            </a:r>
          </a:p>
          <a:p>
            <a:r>
              <a:t>Speaker B: This creates a negative trade-off where cleaner code raises costs by forty-seven point nine percent without actually fixing correctness.</a:t>
            </a:r>
          </a:p>
          <a:p>
            <a:r>
              <a:t>Speaker A: Ultimately, no agent solves all problems end-to-end, with the highest strict solve rate capping at just seventeen point two percent.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A: We are analyzing test pass rates across five development stages to identify specific areas of code quality decline.</a:t>
            </a:r>
          </a:p>
          <a:p>
            <a:r>
              <a:t>Speaker B: This breakdown is crucial because aggregating all test types would obscure the distinct behaviors we see between Core, Functionality, and Error categories.</a:t>
            </a:r>
          </a:p>
          <a:p>
            <a:r>
              <a:t>Speaker A: As the chart shows, Error tests maintain the highest initial pass rate, whereas Core and Functionality rates demonstrate a clear decline from Start to Final.</a:t>
            </a:r>
          </a:p>
          <a:p>
            <a:r>
              <a:t>Speaker B: Essentially, the system continues to catch basic errors, but the underlying functionality becomes less stable as development progresses.</a:t>
            </a:r>
          </a:p>
          <a:p>
            <a:r>
              <a:t>Speaker A: This indicates we need to prioritize stabilizing Core and Functionality modules during later iterations to halt this downward trend.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A: This brings us to the conclusion of our presentation today.</a:t>
            </a:r>
          </a:p>
          <a:p>
            <a:r>
              <a:t>Speaker B: Exactly - we have established the foundation needed to move forward.</a:t>
            </a:r>
          </a:p>
          <a:p>
            <a:r>
              <a:t>Speaker A: We sincerely appreciate your participation and thank you for joining us.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13" name="内容占位符 12"/>
          <p:cNvSpPr>
            <a:spLocks noGrp="1"/>
          </p:cNvSpPr>
          <p:nvPr>
            <p:ph sz="quarter" idx="13" hasCustomPrompt="1"/>
          </p:nvPr>
        </p:nvSpPr>
        <p:spPr>
          <a:xfrm>
            <a:off x="0" y="1716629"/>
            <a:ext cx="12192001" cy="1610767"/>
          </a:xfrm>
          <a:solidFill>
            <a:srgbClr val="375AA4"/>
          </a:solidFill>
        </p:spPr>
        <p:txBody>
          <a:bodyPr anchor="ctr">
            <a:normAutofit/>
          </a:bodyPr>
          <a:lstStyle>
            <a:lvl1pPr marL="0" indent="0" algn="ctr">
              <a:buNone/>
              <a:defRPr sz="2800">
                <a:latin typeface="黑体" panose="02010609060101010101" pitchFamily="49" charset="-122"/>
                <a:ea typeface="黑体" panose="02010609060101010101" pitchFamily="49" charset="-122"/>
              </a:defRPr>
            </a:lvl1pPr>
          </a:lstStyle>
          <a:p>
            <a:r>
              <a:rPr kumimoji="1" lang="zh-CN" altLang="en-US" sz="2400" dirty="0">
                <a:solidFill>
                  <a:schemeClr val="bg1"/>
                </a:solidFill>
              </a:rPr>
              <a:t>单击此处编辑母版标题样式</a:t>
            </a:r>
            <a:endParaRPr kumimoji="1" lang="zh-CN" altLang="en-US" sz="2400" dirty="0">
              <a:solidFill>
                <a:schemeClr val="bg1"/>
              </a:solidFill>
            </a:endParaRPr>
          </a:p>
        </p:txBody>
      </p:sp>
      <p:sp>
        <p:nvSpPr>
          <p:cNvPr id="2" name="标题 1"/>
          <p:cNvSpPr>
            <a:spLocks noGrp="1"/>
          </p:cNvSpPr>
          <p:nvPr>
            <p:ph type="title"/>
          </p:nvPr>
        </p:nvSpPr>
        <p:spPr>
          <a:xfrm>
            <a:off x="-1" y="3575188"/>
            <a:ext cx="12192001" cy="1143000"/>
          </a:xfrm>
        </p:spPr>
        <p:txBody>
          <a:bodyPr/>
          <a:lstStyle>
            <a:lvl1pPr>
              <a:defRPr b="1">
                <a:solidFill>
                  <a:srgbClr val="194297"/>
                </a:solidFill>
                <a:latin typeface="黑体" panose="02010609060101010101" pitchFamily="49" charset="-122"/>
                <a:ea typeface="黑体" panose="02010609060101010101" pitchFamily="49" charset="-122"/>
              </a:defRPr>
            </a:lvl1pPr>
          </a:lstStyle>
          <a:p>
            <a:r>
              <a:rPr kumimoji="1" lang="zh-CN" altLang="en-US" dirty="0"/>
              <a:t>单击此处编辑母版标题样式</a:t>
            </a:r>
            <a:endParaRPr kumimoji="1" lang="zh-CN" altLang="en-US" dirty="0"/>
          </a:p>
        </p:txBody>
      </p:sp>
      <p:sp>
        <p:nvSpPr>
          <p:cNvPr id="3" name="日期占位符 2"/>
          <p:cNvSpPr>
            <a:spLocks noGrp="1"/>
          </p:cNvSpPr>
          <p:nvPr>
            <p:ph type="dt" sz="half" idx="10"/>
          </p:nvPr>
        </p:nvSpPr>
        <p:spPr/>
        <p:txBody>
          <a:bodyPr/>
          <a:lstStyle/>
          <a:p>
            <a:fld id="{B3551FA5-A072-C74F-B9AC-F2D758607E96}" type="datetime1">
              <a:rPr kumimoji="1" lang="zh-CN" altLang="en-US" smtClean="0"/>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184837EA-8E75-5C46-B6C5-33E17701B5D3}" type="slidenum">
              <a:rPr kumimoji="1" lang="zh-CN" altLang="en-US" smtClean="0"/>
            </a:fld>
            <a:endParaRPr kumimoji="1"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hasCustomPrompt="1"/>
          </p:nvPr>
        </p:nvSpPr>
        <p:spPr>
          <a:xfrm>
            <a:off x="361492" y="1051562"/>
            <a:ext cx="11469016" cy="5413406"/>
          </a:xfrm>
        </p:spPr>
        <p:txBody>
          <a:bodyPr>
            <a:normAutofit/>
          </a:bodyPr>
          <a:lstStyle>
            <a:lvl1pPr>
              <a:defRPr sz="2400">
                <a:solidFill>
                  <a:schemeClr val="tx1"/>
                </a:solidFill>
                <a:latin typeface="微软雅黑" panose="020B0503020204020204" pitchFamily="34" charset="-122"/>
                <a:ea typeface="微软雅黑" panose="020B0503020204020204" pitchFamily="34" charset="-122"/>
              </a:defRPr>
            </a:lvl1pPr>
            <a:lvl2pPr>
              <a:defRPr sz="2000">
                <a:solidFill>
                  <a:schemeClr val="tx1"/>
                </a:solidFill>
                <a:latin typeface="微软雅黑" panose="020B0503020204020204" pitchFamily="34" charset="-122"/>
                <a:ea typeface="微软雅黑" panose="020B0503020204020204" pitchFamily="34" charset="-122"/>
              </a:defRPr>
            </a:lvl2pPr>
            <a:lvl3pPr>
              <a:defRPr sz="2000">
                <a:solidFill>
                  <a:schemeClr val="tx1"/>
                </a:solidFill>
                <a:latin typeface="微软雅黑" panose="020B0503020204020204" pitchFamily="34" charset="-122"/>
                <a:ea typeface="微软雅黑" panose="020B0503020204020204" pitchFamily="34" charset="-122"/>
              </a:defRPr>
            </a:lvl3pPr>
            <a:lvl4pPr>
              <a:defRPr sz="2000">
                <a:solidFill>
                  <a:schemeClr val="tx1"/>
                </a:solidFill>
                <a:latin typeface="微软雅黑" panose="020B0503020204020204" pitchFamily="34" charset="-122"/>
                <a:ea typeface="微软雅黑" panose="020B0503020204020204" pitchFamily="34" charset="-122"/>
              </a:defRPr>
            </a:lvl4pPr>
            <a:lvl5pPr>
              <a:defRPr sz="2000">
                <a:solidFill>
                  <a:schemeClr val="tx1"/>
                </a:solidFill>
                <a:latin typeface="微软雅黑" panose="020B0503020204020204" pitchFamily="34" charset="-122"/>
                <a:ea typeface="微软雅黑" panose="020B0503020204020204" pitchFamily="34" charset="-122"/>
              </a:defRPr>
            </a:lvl5pPr>
          </a:lstStyle>
          <a:p>
            <a:pPr lvl="0"/>
            <a:r>
              <a:rPr kumimoji="1" lang="zh-CN" altLang="en-US" dirty="0"/>
              <a:t>编辑母版文本样式</a:t>
            </a:r>
            <a:endParaRPr kumimoji="1" lang="zh-CN" altLang="en-US" dirty="0"/>
          </a:p>
          <a:p>
            <a:pPr lvl="1"/>
            <a:r>
              <a:rPr kumimoji="1" lang="zh-CN" altLang="en-US" dirty="0"/>
              <a:t>第二级</a:t>
            </a:r>
            <a:endParaRPr kumimoji="1" lang="zh-CN" altLang="en-US" dirty="0"/>
          </a:p>
          <a:p>
            <a:pPr lvl="2"/>
            <a:r>
              <a:rPr kumimoji="1" lang="zh-CN" altLang="en-US" dirty="0"/>
              <a:t>第三级</a:t>
            </a:r>
            <a:endParaRPr kumimoji="1" lang="zh-CN" altLang="en-US" dirty="0"/>
          </a:p>
          <a:p>
            <a:pPr lvl="3"/>
            <a:r>
              <a:rPr kumimoji="1" lang="zh-CN" altLang="en-US" dirty="0"/>
              <a:t>第四级</a:t>
            </a:r>
            <a:endParaRPr kumimoji="1" lang="zh-CN" altLang="en-US" dirty="0"/>
          </a:p>
          <a:p>
            <a:pPr lvl="4"/>
            <a:r>
              <a:rPr kumimoji="1" lang="zh-CN" altLang="en-US" dirty="0"/>
              <a:t>第五级</a:t>
            </a:r>
            <a:endParaRPr kumimoji="1" lang="zh-CN" altLang="en-US" dirty="0"/>
          </a:p>
        </p:txBody>
      </p:sp>
      <p:cxnSp>
        <p:nvCxnSpPr>
          <p:cNvPr id="10" name="直接连接符 2"/>
          <p:cNvCxnSpPr/>
          <p:nvPr userDrawn="1"/>
        </p:nvCxnSpPr>
        <p:spPr>
          <a:xfrm>
            <a:off x="361492" y="879000"/>
            <a:ext cx="11469016" cy="0"/>
          </a:xfrm>
          <a:prstGeom prst="line">
            <a:avLst/>
          </a:prstGeom>
          <a:ln w="28575">
            <a:solidFill>
              <a:srgbClr val="385AA4"/>
            </a:solidFill>
          </a:ln>
        </p:spPr>
        <p:style>
          <a:lnRef idx="1">
            <a:schemeClr val="accent1"/>
          </a:lnRef>
          <a:fillRef idx="0">
            <a:schemeClr val="accent1"/>
          </a:fillRef>
          <a:effectRef idx="0">
            <a:schemeClr val="accent1"/>
          </a:effectRef>
          <a:fontRef idx="minor">
            <a:schemeClr val="tx1"/>
          </a:fontRef>
        </p:style>
      </p:cxnSp>
      <p:sp>
        <p:nvSpPr>
          <p:cNvPr id="14" name="椭圆 13"/>
          <p:cNvSpPr/>
          <p:nvPr userDrawn="1"/>
        </p:nvSpPr>
        <p:spPr>
          <a:xfrm>
            <a:off x="11686448" y="6499065"/>
            <a:ext cx="288121" cy="288121"/>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p>
        </p:txBody>
      </p:sp>
      <p:sp>
        <p:nvSpPr>
          <p:cNvPr id="13" name="文本框 12"/>
          <p:cNvSpPr txBox="1"/>
          <p:nvPr userDrawn="1"/>
        </p:nvSpPr>
        <p:spPr>
          <a:xfrm>
            <a:off x="11675815" y="6467540"/>
            <a:ext cx="307910" cy="340912"/>
          </a:xfrm>
          <a:prstGeom prst="rect">
            <a:avLst/>
          </a:prstGeom>
          <a:noFill/>
        </p:spPr>
        <p:txBody>
          <a:bodyPr wrap="none" rtlCol="0">
            <a:noAutofit/>
          </a:bodyPr>
          <a:lstStyle/>
          <a:p>
            <a:pPr algn="ctr"/>
            <a:fld id="{A3F35204-DFFB-A947-BE2B-25CB3E0633F6}" type="slidenum">
              <a:rPr kumimoji="1" lang="zh-CN" altLang="en-US" sz="1600" smtClean="0">
                <a:solidFill>
                  <a:schemeClr val="bg1"/>
                </a:solidFill>
                <a:latin typeface="Arial" panose="020B0604020202020204" pitchFamily="34" charset="0"/>
                <a:cs typeface="Arial" panose="020B0604020202020204" pitchFamily="34" charset="0"/>
              </a:rPr>
            </a:fld>
            <a:endParaRPr kumimoji="1" lang="zh-CN" altLang="en-US" sz="1600" dirty="0">
              <a:solidFill>
                <a:schemeClr val="bg1"/>
              </a:solidFill>
              <a:latin typeface="Arial" panose="020B0604020202020204" pitchFamily="34" charset="0"/>
              <a:cs typeface="Arial" panose="020B0604020202020204" pitchFamily="34" charset="0"/>
            </a:endParaRPr>
          </a:p>
        </p:txBody>
      </p:sp>
      <p:sp>
        <p:nvSpPr>
          <p:cNvPr id="21" name="标题 20"/>
          <p:cNvSpPr>
            <a:spLocks noGrp="1"/>
          </p:cNvSpPr>
          <p:nvPr>
            <p:ph type="title"/>
          </p:nvPr>
        </p:nvSpPr>
        <p:spPr>
          <a:xfrm>
            <a:off x="361492" y="146627"/>
            <a:ext cx="10972800" cy="774447"/>
          </a:xfrm>
        </p:spPr>
        <p:txBody>
          <a:bodyPr>
            <a:normAutofit/>
          </a:bodyPr>
          <a:lstStyle>
            <a:lvl1pPr algn="l">
              <a:defRPr sz="3200" b="1">
                <a:solidFill>
                  <a:srgbClr val="194297"/>
                </a:solidFill>
                <a:latin typeface="微软雅黑" panose="020B0503020204020204" pitchFamily="34" charset="-122"/>
                <a:ea typeface="微软雅黑" panose="020B0503020204020204" pitchFamily="34" charset="-122"/>
              </a:defRPr>
            </a:lvl1pPr>
          </a:lstStyle>
          <a:p>
            <a:r>
              <a:rPr kumimoji="1" lang="zh-CN" altLang="en-US" dirty="0"/>
              <a:t>单击此处编辑母版标题样式</a:t>
            </a:r>
            <a:endParaRPr kumimoji="1"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B3551FA5-A072-C74F-B9AC-F2D758607E96}" type="datetime1">
              <a:rPr kumimoji="1" lang="zh-CN" altLang="en-US" smtClean="0"/>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184837EA-8E75-5C46-B6C5-33E17701B5D3}" type="slidenum">
              <a:rPr kumimoji="1" lang="zh-CN" altLang="en-US" smtClean="0"/>
            </a:fld>
            <a:endParaRPr kumimoji="1" lang="zh-CN" altLang="en-US"/>
          </a:p>
        </p:txBody>
      </p:sp>
      <p:sp>
        <p:nvSpPr>
          <p:cNvPr id="13" name="内容占位符 12"/>
          <p:cNvSpPr>
            <a:spLocks noGrp="1"/>
          </p:cNvSpPr>
          <p:nvPr>
            <p:ph sz="quarter" idx="13" hasCustomPrompt="1"/>
          </p:nvPr>
        </p:nvSpPr>
        <p:spPr>
          <a:xfrm>
            <a:off x="0" y="2422527"/>
            <a:ext cx="12192001" cy="1610767"/>
          </a:xfrm>
          <a:solidFill>
            <a:srgbClr val="375AA4"/>
          </a:solidFill>
        </p:spPr>
        <p:txBody>
          <a:bodyPr anchor="ctr">
            <a:normAutofit/>
          </a:bodyPr>
          <a:lstStyle>
            <a:lvl1pPr marL="0" indent="0" algn="ctr">
              <a:buNone/>
              <a:defRPr sz="2800">
                <a:latin typeface="黑体" panose="02010609060101010101" pitchFamily="49" charset="-122"/>
                <a:ea typeface="黑体" panose="02010609060101010101" pitchFamily="49" charset="-122"/>
              </a:defRPr>
            </a:lvl1pPr>
          </a:lstStyle>
          <a:p>
            <a:r>
              <a:rPr kumimoji="1" lang="zh-CN" altLang="en-US" sz="2400" dirty="0">
                <a:solidFill>
                  <a:schemeClr val="bg1"/>
                </a:solidFill>
              </a:rPr>
              <a:t>单击此处编辑母版标题样式</a:t>
            </a:r>
            <a:endParaRPr kumimoji="1" lang="zh-CN" altLang="en-US" sz="2400" dirty="0">
              <a:solidFill>
                <a:schemeClr val="bg1"/>
              </a:solidFil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内容页">
    <p:spTree>
      <p:nvGrpSpPr>
        <p:cNvPr id="1" name=""/>
        <p:cNvGrpSpPr/>
        <p:nvPr/>
      </p:nvGrpSpPr>
      <p:grpSpPr>
        <a:xfrm>
          <a:off x="0" y="0"/>
          <a:ext cx="0" cy="0"/>
          <a:chOff x="0" y="0"/>
          <a:chExt cx="0" cy="0"/>
        </a:xfrm>
      </p:grpSpPr>
      <p:sp>
        <p:nvSpPr>
          <p:cNvPr id="3" name="内容占位符 2"/>
          <p:cNvSpPr>
            <a:spLocks noGrp="1"/>
          </p:cNvSpPr>
          <p:nvPr>
            <p:ph idx="1" hasCustomPrompt="1"/>
          </p:nvPr>
        </p:nvSpPr>
        <p:spPr>
          <a:xfrm>
            <a:off x="361492" y="1051562"/>
            <a:ext cx="11469016" cy="5413406"/>
          </a:xfrm>
        </p:spPr>
        <p:txBody>
          <a:bodyPr>
            <a:normAutofit/>
          </a:bodyPr>
          <a:lstStyle>
            <a:lvl1pPr>
              <a:lnSpc>
                <a:spcPct val="130000"/>
              </a:lnSpc>
              <a:defRPr sz="2800">
                <a:solidFill>
                  <a:schemeClr val="tx1"/>
                </a:solidFill>
                <a:latin typeface="Comic Sans MS" panose="030F0702030302020204" pitchFamily="66" charset="0"/>
                <a:ea typeface="微软雅黑" panose="020B0503020204020204" pitchFamily="34" charset="-122"/>
              </a:defRPr>
            </a:lvl1pPr>
            <a:lvl2pPr>
              <a:lnSpc>
                <a:spcPct val="130000"/>
              </a:lnSpc>
              <a:defRPr sz="2400">
                <a:solidFill>
                  <a:schemeClr val="tx1"/>
                </a:solidFill>
                <a:latin typeface="Comic Sans MS" panose="030F0702030302020204" pitchFamily="66" charset="0"/>
                <a:ea typeface="微软雅黑" panose="020B0503020204020204" pitchFamily="34" charset="-122"/>
              </a:defRPr>
            </a:lvl2pPr>
            <a:lvl3pPr>
              <a:lnSpc>
                <a:spcPct val="130000"/>
              </a:lnSpc>
              <a:defRPr sz="2400">
                <a:solidFill>
                  <a:schemeClr val="tx1"/>
                </a:solidFill>
                <a:latin typeface="Comic Sans MS" panose="030F0702030302020204" pitchFamily="66" charset="0"/>
                <a:ea typeface="微软雅黑" panose="020B0503020204020204" pitchFamily="34" charset="-122"/>
              </a:defRPr>
            </a:lvl3pPr>
            <a:lvl4pPr>
              <a:lnSpc>
                <a:spcPct val="130000"/>
              </a:lnSpc>
              <a:defRPr sz="2400">
                <a:solidFill>
                  <a:schemeClr val="tx1"/>
                </a:solidFill>
                <a:latin typeface="Comic Sans MS" panose="030F0702030302020204" pitchFamily="66" charset="0"/>
                <a:ea typeface="微软雅黑" panose="020B0503020204020204" pitchFamily="34" charset="-122"/>
              </a:defRPr>
            </a:lvl4pPr>
            <a:lvl5pPr>
              <a:lnSpc>
                <a:spcPct val="130000"/>
              </a:lnSpc>
              <a:defRPr sz="2400">
                <a:solidFill>
                  <a:schemeClr val="tx1"/>
                </a:solidFill>
                <a:latin typeface="Comic Sans MS" panose="030F0702030302020204" pitchFamily="66" charset="0"/>
                <a:ea typeface="微软雅黑" panose="020B0503020204020204" pitchFamily="34" charset="-122"/>
              </a:defRPr>
            </a:lvl5pPr>
          </a:lstStyle>
          <a:p>
            <a:pPr lvl="0"/>
            <a:r>
              <a:rPr kumimoji="1" lang="en-US" altLang="zh-CN" dirty="0"/>
              <a:t>Headline</a:t>
            </a:r>
            <a:endParaRPr kumimoji="1" lang="zh-CN" altLang="en-US" dirty="0"/>
          </a:p>
          <a:p>
            <a:pPr lvl="1"/>
            <a:r>
              <a:rPr kumimoji="1" lang="zh-CN" altLang="en-US" dirty="0"/>
              <a:t>第二级</a:t>
            </a:r>
            <a:endParaRPr kumimoji="1" lang="zh-CN" altLang="en-US" dirty="0"/>
          </a:p>
          <a:p>
            <a:pPr lvl="2"/>
            <a:r>
              <a:rPr kumimoji="1" lang="zh-CN" altLang="en-US" dirty="0"/>
              <a:t>第三级</a:t>
            </a:r>
            <a:endParaRPr kumimoji="1" lang="zh-CN" altLang="en-US" dirty="0"/>
          </a:p>
          <a:p>
            <a:pPr lvl="3"/>
            <a:r>
              <a:rPr kumimoji="1" lang="zh-CN" altLang="en-US" dirty="0"/>
              <a:t>第四级</a:t>
            </a:r>
            <a:endParaRPr kumimoji="1" lang="zh-CN" altLang="en-US" dirty="0"/>
          </a:p>
          <a:p>
            <a:pPr lvl="4"/>
            <a:r>
              <a:rPr kumimoji="1" lang="zh-CN" altLang="en-US" dirty="0"/>
              <a:t>第五级</a:t>
            </a:r>
            <a:endParaRPr kumimoji="1" lang="zh-CN" altLang="en-US" dirty="0"/>
          </a:p>
        </p:txBody>
      </p:sp>
      <p:cxnSp>
        <p:nvCxnSpPr>
          <p:cNvPr id="10" name="直接连接符 2"/>
          <p:cNvCxnSpPr/>
          <p:nvPr userDrawn="1"/>
        </p:nvCxnSpPr>
        <p:spPr>
          <a:xfrm>
            <a:off x="361492" y="879000"/>
            <a:ext cx="11469016" cy="0"/>
          </a:xfrm>
          <a:prstGeom prst="line">
            <a:avLst/>
          </a:prstGeom>
          <a:ln w="28575">
            <a:solidFill>
              <a:srgbClr val="385AA4"/>
            </a:solidFill>
          </a:ln>
        </p:spPr>
        <p:style>
          <a:lnRef idx="1">
            <a:schemeClr val="accent1"/>
          </a:lnRef>
          <a:fillRef idx="0">
            <a:schemeClr val="accent1"/>
          </a:fillRef>
          <a:effectRef idx="0">
            <a:schemeClr val="accent1"/>
          </a:effectRef>
          <a:fontRef idx="minor">
            <a:schemeClr val="tx1"/>
          </a:fontRef>
        </p:style>
      </p:cxnSp>
      <p:sp>
        <p:nvSpPr>
          <p:cNvPr id="14" name="椭圆 13"/>
          <p:cNvSpPr/>
          <p:nvPr userDrawn="1"/>
        </p:nvSpPr>
        <p:spPr>
          <a:xfrm>
            <a:off x="11686448" y="6499065"/>
            <a:ext cx="288121" cy="288121"/>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p>
        </p:txBody>
      </p:sp>
      <p:sp>
        <p:nvSpPr>
          <p:cNvPr id="13" name="文本框 12"/>
          <p:cNvSpPr txBox="1"/>
          <p:nvPr userDrawn="1"/>
        </p:nvSpPr>
        <p:spPr>
          <a:xfrm>
            <a:off x="11675815" y="6467540"/>
            <a:ext cx="307910" cy="340912"/>
          </a:xfrm>
          <a:prstGeom prst="rect">
            <a:avLst/>
          </a:prstGeom>
          <a:noFill/>
        </p:spPr>
        <p:txBody>
          <a:bodyPr wrap="none" rtlCol="0">
            <a:noAutofit/>
          </a:bodyPr>
          <a:lstStyle/>
          <a:p>
            <a:pPr algn="ctr"/>
            <a:fld id="{A3F35204-DFFB-A947-BE2B-25CB3E0633F6}" type="slidenum">
              <a:rPr kumimoji="1" lang="zh-CN" altLang="en-US" sz="1600" smtClean="0">
                <a:solidFill>
                  <a:schemeClr val="bg1"/>
                </a:solidFill>
                <a:latin typeface="Arial" panose="020B0604020202020204" pitchFamily="34" charset="0"/>
                <a:cs typeface="Arial" panose="020B0604020202020204" pitchFamily="34" charset="0"/>
              </a:rPr>
            </a:fld>
            <a:endParaRPr kumimoji="1" lang="zh-CN" altLang="en-US" sz="1600" dirty="0">
              <a:solidFill>
                <a:schemeClr val="bg1"/>
              </a:solidFill>
              <a:latin typeface="Arial" panose="020B0604020202020204" pitchFamily="34" charset="0"/>
              <a:cs typeface="Arial" panose="020B0604020202020204" pitchFamily="34" charset="0"/>
            </a:endParaRPr>
          </a:p>
        </p:txBody>
      </p:sp>
      <p:sp>
        <p:nvSpPr>
          <p:cNvPr id="21" name="标题 20"/>
          <p:cNvSpPr>
            <a:spLocks noGrp="1"/>
          </p:cNvSpPr>
          <p:nvPr>
            <p:ph type="title"/>
          </p:nvPr>
        </p:nvSpPr>
        <p:spPr>
          <a:xfrm>
            <a:off x="361492" y="146627"/>
            <a:ext cx="10972800" cy="774447"/>
          </a:xfrm>
        </p:spPr>
        <p:txBody>
          <a:bodyPr>
            <a:normAutofit/>
          </a:bodyPr>
          <a:lstStyle>
            <a:lvl1pPr algn="l">
              <a:defRPr sz="3200" b="1">
                <a:solidFill>
                  <a:srgbClr val="194297"/>
                </a:solidFill>
                <a:latin typeface="微软雅黑" panose="020B0503020204020204" pitchFamily="34" charset="-122"/>
                <a:ea typeface="微软雅黑" panose="020B0503020204020204" pitchFamily="34" charset="-122"/>
              </a:defRPr>
            </a:lvl1pPr>
          </a:lstStyle>
          <a:p>
            <a:r>
              <a:rPr kumimoji="1" lang="zh-CN" altLang="en-US" dirty="0"/>
              <a:t>单击此处编辑母版标题样式</a:t>
            </a:r>
            <a:endParaRPr kumimoji="1"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600" y="274639"/>
            <a:ext cx="10972800" cy="1143000"/>
          </a:xfrm>
          <a:prstGeom prst="rect">
            <a:avLst/>
          </a:prstGeom>
        </p:spPr>
        <p:txBody>
          <a:bodyPr vert="horz" lIns="91440" tIns="45720" rIns="91440" bIns="45720" rtlCol="0" anchor="ctr">
            <a:normAutofit/>
          </a:bodyPr>
          <a:lstStyle/>
          <a:p>
            <a:r>
              <a:rPr kumimoji="1" lang="zh-CN" altLang="en-US"/>
              <a:t>单击此处编辑母版标题样式</a:t>
            </a:r>
            <a:endParaRPr kumimoji="1" lang="zh-CN" altLang="en-US"/>
          </a:p>
        </p:txBody>
      </p:sp>
      <p:sp>
        <p:nvSpPr>
          <p:cNvPr id="3" name="文本占位符 2"/>
          <p:cNvSpPr>
            <a:spLocks noGrp="1"/>
          </p:cNvSpPr>
          <p:nvPr>
            <p:ph type="body" idx="1"/>
          </p:nvPr>
        </p:nvSpPr>
        <p:spPr>
          <a:xfrm>
            <a:off x="609600" y="1600204"/>
            <a:ext cx="10972800" cy="4525963"/>
          </a:xfrm>
          <a:prstGeom prst="rect">
            <a:avLst/>
          </a:prstGeom>
        </p:spPr>
        <p:txBody>
          <a:bodyPr vert="horz" lIns="91440" tIns="45720" rIns="91440" bIns="45720" rtlCol="0">
            <a:normAutofit/>
          </a:body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4" name="日期占位符 3"/>
          <p:cNvSpPr>
            <a:spLocks noGrp="1"/>
          </p:cNvSpPr>
          <p:nvPr>
            <p:ph type="dt" sz="half" idx="2"/>
          </p:nvPr>
        </p:nvSpPr>
        <p:spPr>
          <a:xfrm>
            <a:off x="596912" y="6657628"/>
            <a:ext cx="2844800" cy="200375"/>
          </a:xfrm>
          <a:prstGeom prst="rect">
            <a:avLst/>
          </a:prstGeom>
        </p:spPr>
        <p:txBody>
          <a:bodyPr vert="horz" lIns="91440" tIns="45720" rIns="91440" bIns="45720" rtlCol="0" anchor="ctr"/>
          <a:lstStyle>
            <a:lvl1pPr algn="l">
              <a:defRPr sz="900">
                <a:solidFill>
                  <a:schemeClr val="bg1"/>
                </a:solidFill>
              </a:defRPr>
            </a:lvl1pPr>
          </a:lstStyle>
          <a:p>
            <a:fld id="{B3551FA5-A072-C74F-B9AC-F2D758607E96}" type="datetime1">
              <a:rPr kumimoji="1" lang="zh-CN" altLang="en-US" smtClean="0"/>
            </a:fld>
            <a:endParaRPr kumimoji="1" lang="zh-CN" altLang="en-US"/>
          </a:p>
        </p:txBody>
      </p:sp>
      <p:sp>
        <p:nvSpPr>
          <p:cNvPr id="5" name="页脚占位符 4"/>
          <p:cNvSpPr>
            <a:spLocks noGrp="1"/>
          </p:cNvSpPr>
          <p:nvPr>
            <p:ph type="ftr" sz="quarter" idx="3"/>
          </p:nvPr>
        </p:nvSpPr>
        <p:spPr>
          <a:xfrm>
            <a:off x="4271797" y="6657628"/>
            <a:ext cx="3860800" cy="173739"/>
          </a:xfrm>
          <a:prstGeom prst="rect">
            <a:avLst/>
          </a:prstGeom>
        </p:spPr>
        <p:txBody>
          <a:bodyPr vert="horz" lIns="91440" tIns="45720" rIns="91440" bIns="45720" rtlCol="0" anchor="ctr"/>
          <a:lstStyle>
            <a:lvl1pPr algn="ctr">
              <a:defRPr sz="900">
                <a:solidFill>
                  <a:schemeClr val="bg1"/>
                </a:solidFill>
              </a:defRPr>
            </a:lvl1pPr>
          </a:lstStyle>
          <a:p>
            <a:endParaRPr kumimoji="1" lang="zh-CN" altLang="en-US"/>
          </a:p>
        </p:txBody>
      </p:sp>
      <p:sp>
        <p:nvSpPr>
          <p:cNvPr id="6" name="幻灯片编号占位符 5"/>
          <p:cNvSpPr>
            <a:spLocks noGrp="1"/>
          </p:cNvSpPr>
          <p:nvPr>
            <p:ph type="sldNum" sz="quarter" idx="4"/>
          </p:nvPr>
        </p:nvSpPr>
        <p:spPr>
          <a:xfrm>
            <a:off x="8748272" y="6657625"/>
            <a:ext cx="2844800" cy="182562"/>
          </a:xfrm>
          <a:prstGeom prst="rect">
            <a:avLst/>
          </a:prstGeom>
        </p:spPr>
        <p:txBody>
          <a:bodyPr vert="horz" lIns="91440" tIns="45720" rIns="91440" bIns="45720" rtlCol="0" anchor="ctr"/>
          <a:lstStyle>
            <a:lvl1pPr algn="r">
              <a:defRPr sz="900">
                <a:solidFill>
                  <a:schemeClr val="bg1"/>
                </a:solidFill>
              </a:defRPr>
            </a:lvl1pPr>
          </a:lstStyle>
          <a:p>
            <a:fld id="{184837EA-8E75-5C46-B6C5-33E17701B5D3}"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hdr="0" ftr="0" dt="0"/>
  <p:txStyles>
    <p:titleStyle>
      <a:lvl1pPr algn="ctr" defTabSz="342900" rtl="0" eaLnBrk="1" latinLnBrk="0" hangingPunct="1">
        <a:spcBef>
          <a:spcPct val="0"/>
        </a:spcBef>
        <a:buNone/>
        <a:defRPr sz="3300" kern="1200">
          <a:solidFill>
            <a:schemeClr val="tx1"/>
          </a:solidFill>
          <a:latin typeface="+mj-lt"/>
          <a:ea typeface="+mj-ea"/>
          <a:cs typeface="+mj-cs"/>
        </a:defRPr>
      </a:lvl1pPr>
    </p:titleStyle>
    <p:bodyStyle>
      <a:lvl1pPr marL="257175" indent="-257175" algn="l" defTabSz="342900" rtl="0" eaLnBrk="1" latinLnBrk="0" hangingPunct="1">
        <a:spcBef>
          <a:spcPct val="20000"/>
        </a:spcBef>
        <a:buFont typeface="Arial" panose="020B0604020202020204"/>
        <a:buChar char="•"/>
        <a:defRPr sz="2400" kern="1200">
          <a:solidFill>
            <a:schemeClr val="tx1"/>
          </a:solidFill>
          <a:latin typeface="+mn-lt"/>
          <a:ea typeface="+mn-ea"/>
          <a:cs typeface="+mn-cs"/>
        </a:defRPr>
      </a:lvl1pPr>
      <a:lvl2pPr marL="557530" indent="-214630" algn="l" defTabSz="342900" rtl="0" eaLnBrk="1" latinLnBrk="0" hangingPunct="1">
        <a:spcBef>
          <a:spcPct val="20000"/>
        </a:spcBef>
        <a:buFont typeface="Arial" panose="020B0604020202020204"/>
        <a:buChar char="–"/>
        <a:defRPr sz="2100" kern="1200">
          <a:solidFill>
            <a:schemeClr val="tx1"/>
          </a:solidFill>
          <a:latin typeface="+mn-lt"/>
          <a:ea typeface="+mn-ea"/>
          <a:cs typeface="+mn-cs"/>
        </a:defRPr>
      </a:lvl2pPr>
      <a:lvl3pPr marL="857250" indent="-171450" algn="l" defTabSz="342900" rtl="0" eaLnBrk="1" latinLnBrk="0" hangingPunct="1">
        <a:spcBef>
          <a:spcPct val="20000"/>
        </a:spcBef>
        <a:buFont typeface="Arial" panose="020B0604020202020204"/>
        <a:buChar char="•"/>
        <a:defRPr sz="1800" kern="1200">
          <a:solidFill>
            <a:schemeClr val="tx1"/>
          </a:solidFill>
          <a:latin typeface="+mn-lt"/>
          <a:ea typeface="+mn-ea"/>
          <a:cs typeface="+mn-cs"/>
        </a:defRPr>
      </a:lvl3pPr>
      <a:lvl4pPr marL="12001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4pPr>
      <a:lvl5pPr marL="15430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5pPr>
      <a:lvl6pPr marL="18859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9pPr>
    </p:bodyStyle>
    <p:otherStyle>
      <a:defPPr>
        <a:defRPr lang="zh-CN"/>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内容占位符 1"/>
          <p:cNvSpPr>
            <a:spLocks noGrp="1"/>
          </p:cNvSpPr>
          <p:nvPr>
            <p:ph sz="quarter" idx="13"/>
          </p:nvPr>
        </p:nvSpPr>
        <p:spPr/>
        <p:txBody>
          <a:bodyPr>
            <a:normAutofit/>
          </a:bodyPr>
          <a:lstStyle>
            <a:lvl1pPr>
              <a:defRPr>
                <a:solidFill/>
              </a:defRPr>
            </a:lvl1pPr>
          </a:lstStyle>
          <a:p>
            <a:pPr>
              <a:defRPr>
                <a:solidFill/>
              </a:defRPr>
            </a:pPr>
            <a:r>
              <a:rPr kumimoji="1" lang="en-US" altLang="zh-CN" sz="4000" dirty="0">
                <a:solidFill>
                  <a:schemeClr val="bg1"/>
                </a:solidFill>
                <a:latin typeface="微软雅黑" panose="020B0503020204020204" pitchFamily="34" charset="-122"/>
                <a:ea typeface="微软雅黑" panose="020B0503020204020204" pitchFamily="34" charset="-122"/>
              </a:rPr>
              <a:t>SlopCodeBench: Code Decay</a:t>
            </a:r>
            <a:endParaRPr kumimoji="1" lang="en-US" altLang="zh-CN" sz="4000" dirty="0">
              <a:solidFill>
                <a:schemeClr val="bg1"/>
              </a:solidFill>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2"/>
          </p:nvPr>
        </p:nvSpPr>
        <p:spPr/>
        <p:txBody>
          <a:bodyPr/>
          <a:lstStyle>
            <a:lvl1pPr>
              <a:defRPr>
                <a:solidFill/>
              </a:defRPr>
            </a:lvl1pPr>
          </a:lstStyle>
          <a:p>
            <a:pPr>
              <a:defRPr>
                <a:solidFill/>
              </a:defRPr>
            </a:pPr>
            <a:fld id="{184837EA-8E75-5C46-B6C5-33E17701B5D3}" type="slidenum">
              <a:rPr kumimoji="1" lang="zh-CN" altLang="en-US" smtClean="0"/>
            </a:fld>
            <a:endParaRPr kumimoji="1" lang="zh-CN" altLang="en-US"/>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内容占位符 1"/>
          <p:cNvSpPr>
            <a:spLocks noGrp="1"/>
          </p:cNvSpPr>
          <p:nvPr>
            <p:ph idx="1"/>
          </p:nvPr>
        </p:nvSpPr>
        <p:spPr>
          <a:xfrm>
            <a:off x="477078" y="1055606"/>
            <a:ext cx="10254437" cy="5235626"/>
          </a:xfrm>
        </p:spPr>
        <p:txBody>
          <a:bodyPr>
            <a:normAutofit/>
          </a:bodyPr>
          <a:lstStyle>
            <a:lvl1pPr>
              <a:defRPr>
                <a:solidFill/>
              </a:defRPr>
            </a:lvl1pPr>
          </a:lstStyle>
          <a:p>
            <a:pPr marL="457200" indent="-457200">
              <a:lnSpc>
                <a:spcPct val="150000"/>
              </a:lnSpc>
              <a:buAutoNum type="arabicPeriod"/>
              <a:defRPr>
                <a:solidFill/>
              </a:defRPr>
            </a:pPr>
            <a:r>
              <a:rPr lang="en-GB" altLang="zh-CN" sz="2200" dirty="0">
                <a:solidFill/>
                <a:latin typeface="微软雅黑" panose="020B0503020204020204" pitchFamily="34" charset="-122"/>
                <a:ea typeface="微软雅黑" panose="020B0503020204020204" pitchFamily="34" charset="-122"/>
              </a:rPr>
              <a:t>Existing benchmarks measure correctness once, ignoring architectural deterioration during repeated editing.</a:t>
            </a:r>
            <a:endParaRPr lang="en-US" altLang="zh-CN" sz="2200" dirty="0">
              <a:latin typeface="微软雅黑" panose="020B0503020204020204" pitchFamily="34" charset="-122"/>
              <a:ea typeface="微软雅黑" panose="020B0503020204020204" pitchFamily="34" charset="-122"/>
            </a:endParaRPr>
          </a:p>
          <a:p>
            <a:pPr marL="457200" indent="-457200">
              <a:lnSpc>
                <a:spcPct val="150000"/>
              </a:lnSpc>
              <a:buAutoNum type="arabicPeriod"/>
              <a:defRPr>
                <a:solidFill/>
              </a:defRPr>
            </a:pPr>
            <a:r>
              <a:rPr lang="zh-CN" altLang="en-US" sz="2200" dirty="0">
                <a:solidFill/>
                <a:latin typeface="微软雅黑" panose="020B0503020204020204" pitchFamily="34" charset="-122"/>
                <a:ea typeface="微软雅黑" panose="020B0503020204020204" pitchFamily="34" charset="-122"/>
              </a:rPr>
              <a:t>SlopCodeBench uses 20 problems and 93 checkpoints to measure quality evolution without internal constraints.</a:t>
            </a:r>
            <a:endParaRPr lang="en-US" altLang="zh-CN" sz="2200" dirty="0">
              <a:latin typeface="微软雅黑" panose="020B0503020204020204" pitchFamily="34" charset="-122"/>
              <a:ea typeface="微软雅黑" panose="020B0503020204020204" pitchFamily="34" charset="-122"/>
            </a:endParaRPr>
          </a:p>
          <a:p>
            <a:pPr marL="457200" indent="-457200">
              <a:lnSpc>
                <a:spcPct val="150000"/>
              </a:lnSpc>
              <a:buAutoNum type="arabicPeriod"/>
              <a:defRPr>
                <a:solidFill/>
              </a:defRPr>
            </a:pPr>
            <a:r>
              <a:rPr lang="zh-CN" altLang="en-US" sz="2200" dirty="0">
                <a:solidFill/>
                <a:latin typeface="微软雅黑" panose="020B0503020204020204" pitchFamily="34" charset="-122"/>
                <a:ea typeface="微软雅黑" panose="020B0503020204020204" pitchFamily="34" charset="-122"/>
              </a:rPr>
              <a:t>Agents fail end-to-end, producing code 2.2 times more verbose and eroded than human repositories.</a:t>
            </a:r>
            <a:endParaRPr lang="en-US" altLang="zh-CN" sz="2200" dirty="0">
              <a:latin typeface="微软雅黑" panose="020B0503020204020204" pitchFamily="34" charset="-122"/>
              <a:ea typeface="微软雅黑" panose="020B0503020204020204" pitchFamily="34" charset="-122"/>
            </a:endParaRPr>
          </a:p>
        </p:txBody>
      </p:sp>
      <p:sp>
        <p:nvSpPr>
          <p:cNvPr id="3" name="标题 2"/>
          <p:cNvSpPr>
            <a:spLocks noGrp="1"/>
          </p:cNvSpPr>
          <p:nvPr>
            <p:ph type="title"/>
          </p:nvPr>
        </p:nvSpPr>
        <p:spPr/>
        <p:txBody>
          <a:bodyPr/>
          <a:lstStyle>
            <a:lvl1pPr>
              <a:defRPr>
                <a:solidFill/>
              </a:defRPr>
            </a:lvl1pPr>
          </a:lstStyle>
          <a:p>
            <a:pPr>
              <a:defRPr>
                <a:solidFill/>
              </a:defRPr>
            </a:pPr>
            <a:r>
              <a:rPr kumimoji="1" lang="zh-CN" altLang="en-US" dirty="0">
                <a:solidFill/>
              </a:rPr>
              <a:t>SlopCodeBench Core</a:t>
            </a:r>
            <a:endParaRPr kumimoji="1" lang="zh-CN" altLang="en-US" dirty="0">
              <a:solidFill/>
            </a:endParaRP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图片 3" descr="a8989c43_x1.png"/>
          <p:cNvPicPr>
            <a:picLocks noChangeAspect="1"/>
          </p:cNvPicPr>
          <p:nvPr/>
        </p:nvPicPr>
        <p:blipFill>
          <a:blip r:embed="rId2"/>
          <a:stretch>
            <a:fillRect/>
          </a:stretch>
        </p:blipFill>
        <p:spPr>
          <a:xfrm>
            <a:off x="5083176" y="1561235"/>
            <a:ext cx="7086600" cy="2287729"/>
          </a:xfrm>
          <a:prstGeom prst="rect">
            <a:avLst/>
          </a:prstGeom>
        </p:spPr>
      </p:pic>
      <p:sp>
        <p:nvSpPr>
          <p:cNvPr id="3" name="标题 2"/>
          <p:cNvSpPr>
            <a:spLocks noGrp="1"/>
          </p:cNvSpPr>
          <p:nvPr>
            <p:ph type="title"/>
          </p:nvPr>
        </p:nvSpPr>
        <p:spPr/>
        <p:txBody>
          <a:bodyPr>
            <a:normAutofit/>
          </a:bodyPr>
          <a:lstStyle>
            <a:lvl1pPr>
              <a:defRPr>
                <a:solidFill/>
              </a:defRPr>
            </a:lvl1pPr>
          </a:lstStyle>
          <a:p>
            <a:pPr>
              <a:defRPr>
                <a:solidFill/>
              </a:defRPr>
            </a:pPr>
            <a:r>
              <a:rPr kumimoji="1" lang="en-US" altLang="zh-CN" dirty="0">
                <a:solidFill/>
              </a:rPr>
              <a:t>Solve Rate Drop</a:t>
            </a:r>
            <a:endParaRPr kumimoji="1" lang="en-US" altLang="zh-CN" dirty="0">
              <a:solidFill/>
            </a:endParaRPr>
          </a:p>
        </p:txBody>
      </p:sp>
      <p:sp>
        <p:nvSpPr>
          <p:cNvPr id="8" name="内容占位符 1"/>
          <p:cNvSpPr txBox="1"/>
          <p:nvPr/>
        </p:nvSpPr>
        <p:spPr>
          <a:xfrm>
            <a:off x="361493" y="1051562"/>
            <a:ext cx="4654388" cy="5413406"/>
          </a:xfrm>
          <a:prstGeom prst="rect">
            <a:avLst/>
          </a:prstGeom>
          <a:noFill/>
        </p:spPr>
        <p:txBody>
          <a:bodyPr vert="horz" lIns="91440" tIns="45720" rIns="91440" bIns="45720" rtlCol="0" anchor="t">
            <a:normAutofit/>
          </a:bodyPr>
          <a:lstStyle>
            <a:lvl1pPr marL="257175" indent="-257175" algn="l" defTabSz="342900" rtl="0" eaLnBrk="1" latinLnBrk="0" hangingPunct="1">
              <a:spcBef>
                <a:spcPct val="20000"/>
              </a:spcBef>
              <a:buFont typeface="Arial" panose="020B0604020202020204"/>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557530" indent="-21463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9pPr>
          </a:lstStyle>
          <a:p>
            <a:pPr>
              <a:lnSpc>
                <a:spcPct val="200000"/>
              </a:lnSpc>
              <a:defRPr>
                <a:solidFill/>
              </a:defRPr>
            </a:pPr>
            <a:r>
              <a:rPr kumimoji="1" lang="zh-CN" altLang="en-US" b="1" dirty="0">
                <a:solidFill/>
              </a:rPr>
              <a:t>Performance vs Cost</a:t>
            </a:r>
            <a:endParaRPr kumimoji="1" lang="en-US" altLang="zh-CN" dirty="0"/>
          </a:p>
          <a:p>
            <a:pPr marL="0" indent="0">
              <a:lnSpc>
                <a:spcPct val="150000"/>
              </a:lnSpc>
              <a:buFont typeface="Arial" panose="020B0604020202020204"/>
              <a:buNone/>
              <a:defRPr>
                <a:solidFill/>
              </a:defRPr>
            </a:pPr>
            <a:r>
              <a:rPr kumimoji="1" lang="zh-CN" altLang="en-US" sz="2200" dirty="0">
                <a:solidFill/>
              </a:rPr>
              <a:t>• Costs rise 2.9x without correctness gain. • Solve rates drop steadily. • Core-isolated gap widens.</a:t>
            </a:r>
            <a:endParaRPr kumimoji="1" lang="en-US" altLang="zh-CN" sz="2200" dirty="0"/>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图片 3" descr="f5ed4edc_x2.png"/>
          <p:cNvPicPr>
            <a:picLocks noChangeAspect="1"/>
          </p:cNvPicPr>
          <p:nvPr/>
        </p:nvPicPr>
        <p:blipFill>
          <a:blip r:embed="rId2"/>
          <a:stretch>
            <a:fillRect/>
          </a:stretch>
        </p:blipFill>
        <p:spPr>
          <a:xfrm>
            <a:off x="5083176" y="1795963"/>
            <a:ext cx="7086600" cy="1818272"/>
          </a:xfrm>
          <a:prstGeom prst="rect">
            <a:avLst/>
          </a:prstGeom>
        </p:spPr>
      </p:pic>
      <p:sp>
        <p:nvSpPr>
          <p:cNvPr id="3" name="标题 2"/>
          <p:cNvSpPr>
            <a:spLocks noGrp="1"/>
          </p:cNvSpPr>
          <p:nvPr>
            <p:ph type="title"/>
          </p:nvPr>
        </p:nvSpPr>
        <p:spPr/>
        <p:txBody>
          <a:bodyPr>
            <a:normAutofit/>
          </a:bodyPr>
          <a:lstStyle>
            <a:lvl1pPr>
              <a:defRPr>
                <a:solidFill/>
              </a:defRPr>
            </a:lvl1pPr>
          </a:lstStyle>
          <a:p>
            <a:pPr>
              <a:defRPr>
                <a:solidFill/>
              </a:defRPr>
            </a:pPr>
            <a:r>
              <a:rPr kumimoji="1" lang="en-US" altLang="zh-CN" dirty="0">
                <a:solidFill/>
              </a:rPr>
              <a:t>Erosion Metrics</a:t>
            </a:r>
            <a:endParaRPr kumimoji="1" lang="en-US" altLang="zh-CN" dirty="0">
              <a:solidFill/>
            </a:endParaRPr>
          </a:p>
        </p:txBody>
      </p:sp>
      <p:sp>
        <p:nvSpPr>
          <p:cNvPr id="8" name="内容占位符 1"/>
          <p:cNvSpPr txBox="1"/>
          <p:nvPr/>
        </p:nvSpPr>
        <p:spPr>
          <a:xfrm>
            <a:off x="361493" y="1051562"/>
            <a:ext cx="4654388" cy="5413406"/>
          </a:xfrm>
          <a:prstGeom prst="rect">
            <a:avLst/>
          </a:prstGeom>
          <a:noFill/>
        </p:spPr>
        <p:txBody>
          <a:bodyPr vert="horz" lIns="91440" tIns="45720" rIns="91440" bIns="45720" rtlCol="0" anchor="t">
            <a:normAutofit/>
          </a:bodyPr>
          <a:lstStyle>
            <a:lvl1pPr marL="257175" indent="-257175" algn="l" defTabSz="342900" rtl="0" eaLnBrk="1" latinLnBrk="0" hangingPunct="1">
              <a:spcBef>
                <a:spcPct val="20000"/>
              </a:spcBef>
              <a:buFont typeface="Arial" panose="020B0604020202020204"/>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557530" indent="-21463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9pPr>
          </a:lstStyle>
          <a:p>
            <a:pPr>
              <a:lnSpc>
                <a:spcPct val="200000"/>
              </a:lnSpc>
              <a:defRPr>
                <a:solidFill/>
              </a:defRPr>
            </a:pPr>
            <a:r>
              <a:rPr kumimoji="1" lang="zh-CN" altLang="en-US" b="1" dirty="0">
                <a:solidFill/>
              </a:rPr>
              <a:t>Model-Specific Erosion</a:t>
            </a:r>
            <a:endParaRPr kumimoji="1" lang="en-US" altLang="zh-CN" dirty="0"/>
          </a:p>
          <a:p>
            <a:pPr marL="0" indent="0">
              <a:lnSpc>
                <a:spcPct val="150000"/>
              </a:lnSpc>
              <a:buFont typeface="Arial" panose="020B0604020202020204"/>
              <a:buNone/>
              <a:defRPr>
                <a:solidFill/>
              </a:defRPr>
            </a:pPr>
            <a:r>
              <a:rPr kumimoji="1" lang="zh-CN" altLang="en-US" sz="2200" dirty="0">
                <a:solidFill/>
              </a:rPr>
              <a:t>Notice diverging trajectories in Late stages. Sonnet 4.6 shows steeper decay. Verbosity varies by model architecture.</a:t>
            </a:r>
            <a:endParaRPr kumimoji="1" lang="en-US" altLang="zh-CN" sz="2200" dirty="0"/>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图片 3" descr="b3d6d88b_x3.png"/>
          <p:cNvPicPr>
            <a:picLocks noChangeAspect="1"/>
          </p:cNvPicPr>
          <p:nvPr/>
        </p:nvPicPr>
        <p:blipFill>
          <a:blip r:embed="rId2"/>
          <a:stretch>
            <a:fillRect/>
          </a:stretch>
        </p:blipFill>
        <p:spPr>
          <a:xfrm>
            <a:off x="5083176" y="1588035"/>
            <a:ext cx="7086600" cy="2234128"/>
          </a:xfrm>
          <a:prstGeom prst="rect">
            <a:avLst/>
          </a:prstGeom>
        </p:spPr>
      </p:pic>
      <p:sp>
        <p:nvSpPr>
          <p:cNvPr id="3" name="标题 2"/>
          <p:cNvSpPr>
            <a:spLocks noGrp="1"/>
          </p:cNvSpPr>
          <p:nvPr>
            <p:ph type="title"/>
          </p:nvPr>
        </p:nvSpPr>
        <p:spPr/>
        <p:txBody>
          <a:bodyPr>
            <a:normAutofit/>
          </a:bodyPr>
          <a:lstStyle>
            <a:lvl1pPr>
              <a:defRPr>
                <a:solidFill/>
              </a:defRPr>
            </a:lvl1pPr>
          </a:lstStyle>
          <a:p>
            <a:pPr>
              <a:defRPr>
                <a:solidFill/>
              </a:defRPr>
            </a:pPr>
            <a:r>
              <a:rPr kumimoji="1" lang="en-US" altLang="zh-CN" dirty="0">
                <a:solidFill/>
              </a:rPr>
              <a:t>Drift Over Time</a:t>
            </a:r>
            <a:endParaRPr kumimoji="1" lang="en-US" altLang="zh-CN" dirty="0">
              <a:solidFill/>
            </a:endParaRPr>
          </a:p>
        </p:txBody>
      </p:sp>
      <p:sp>
        <p:nvSpPr>
          <p:cNvPr id="8" name="内容占位符 1"/>
          <p:cNvSpPr txBox="1"/>
          <p:nvPr/>
        </p:nvSpPr>
        <p:spPr>
          <a:xfrm>
            <a:off x="361493" y="1051562"/>
            <a:ext cx="4654388" cy="5413406"/>
          </a:xfrm>
          <a:prstGeom prst="rect">
            <a:avLst/>
          </a:prstGeom>
          <a:noFill/>
        </p:spPr>
        <p:txBody>
          <a:bodyPr vert="horz" lIns="91440" tIns="45720" rIns="91440" bIns="45720" rtlCol="0" anchor="t">
            <a:normAutofit/>
          </a:bodyPr>
          <a:lstStyle>
            <a:lvl1pPr marL="257175" indent="-257175" algn="l" defTabSz="342900" rtl="0" eaLnBrk="1" latinLnBrk="0" hangingPunct="1">
              <a:spcBef>
                <a:spcPct val="20000"/>
              </a:spcBef>
              <a:buFont typeface="Arial" panose="020B0604020202020204"/>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557530" indent="-21463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9pPr>
          </a:lstStyle>
          <a:p>
            <a:pPr>
              <a:lnSpc>
                <a:spcPct val="200000"/>
              </a:lnSpc>
              <a:defRPr>
                <a:solidFill/>
              </a:defRPr>
            </a:pPr>
            <a:r>
              <a:rPr kumimoji="1" lang="zh-CN" altLang="en-US" b="1" dirty="0">
                <a:solidFill/>
              </a:rPr>
              <a:t>Structural Erosion Gap</a:t>
            </a:r>
            <a:endParaRPr kumimoji="1" lang="en-US" altLang="zh-CN" dirty="0"/>
          </a:p>
          <a:p>
            <a:pPr marL="0" indent="0">
              <a:lnSpc>
                <a:spcPct val="150000"/>
              </a:lnSpc>
              <a:buFont typeface="Arial" panose="020B0604020202020204"/>
              <a:buNone/>
              <a:defRPr>
                <a:solidFill/>
              </a:defRPr>
            </a:pPr>
            <a:r>
              <a:rPr kumimoji="1" lang="zh-CN" altLang="en-US" sz="2200" dirty="0">
                <a:solidFill/>
              </a:rPr>
              <a:t>Agents climb in erosion and verbosity. Human lines remain flat. 79% of agent paths worsen over time.</a:t>
            </a:r>
            <a:endParaRPr kumimoji="1" lang="en-US" altLang="zh-CN" sz="2200" dirty="0"/>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图片 3" descr="468bc70f_x4.png"/>
          <p:cNvPicPr>
            <a:picLocks noChangeAspect="1"/>
          </p:cNvPicPr>
          <p:nvPr/>
        </p:nvPicPr>
        <p:blipFill>
          <a:blip r:embed="rId2"/>
          <a:stretch>
            <a:fillRect/>
          </a:stretch>
        </p:blipFill>
        <p:spPr>
          <a:xfrm>
            <a:off x="5083176" y="1312672"/>
            <a:ext cx="7086600" cy="2784854"/>
          </a:xfrm>
          <a:prstGeom prst="rect">
            <a:avLst/>
          </a:prstGeom>
        </p:spPr>
      </p:pic>
      <p:sp>
        <p:nvSpPr>
          <p:cNvPr id="3" name="标题 2"/>
          <p:cNvSpPr>
            <a:spLocks noGrp="1"/>
          </p:cNvSpPr>
          <p:nvPr>
            <p:ph type="title"/>
          </p:nvPr>
        </p:nvSpPr>
        <p:spPr/>
        <p:txBody>
          <a:bodyPr>
            <a:normAutofit/>
          </a:bodyPr>
          <a:lstStyle>
            <a:lvl1pPr>
              <a:defRPr>
                <a:solidFill/>
              </a:defRPr>
            </a:lvl1pPr>
          </a:lstStyle>
          <a:p>
            <a:pPr>
              <a:defRPr>
                <a:solidFill/>
              </a:defRPr>
            </a:pPr>
            <a:r>
              <a:rPr kumimoji="1" lang="en-US" altLang="zh-CN" dirty="0">
                <a:solidFill/>
              </a:rPr>
              <a:t>Strategy Impact</a:t>
            </a:r>
            <a:endParaRPr kumimoji="1" lang="en-US" altLang="zh-CN" dirty="0">
              <a:solidFill/>
            </a:endParaRPr>
          </a:p>
        </p:txBody>
      </p:sp>
      <p:sp>
        <p:nvSpPr>
          <p:cNvPr id="8" name="内容占位符 1"/>
          <p:cNvSpPr txBox="1"/>
          <p:nvPr/>
        </p:nvSpPr>
        <p:spPr>
          <a:xfrm>
            <a:off x="361493" y="1051562"/>
            <a:ext cx="4654388" cy="5413406"/>
          </a:xfrm>
          <a:prstGeom prst="rect">
            <a:avLst/>
          </a:prstGeom>
          <a:noFill/>
        </p:spPr>
        <p:txBody>
          <a:bodyPr vert="horz" lIns="91440" tIns="45720" rIns="91440" bIns="45720" rtlCol="0" anchor="t">
            <a:normAutofit/>
          </a:bodyPr>
          <a:lstStyle>
            <a:lvl1pPr marL="257175" indent="-257175" algn="l" defTabSz="342900" rtl="0" eaLnBrk="1" latinLnBrk="0" hangingPunct="1">
              <a:spcBef>
                <a:spcPct val="20000"/>
              </a:spcBef>
              <a:buFont typeface="Arial" panose="020B0604020202020204"/>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557530" indent="-21463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9pPr>
          </a:lstStyle>
          <a:p>
            <a:pPr>
              <a:lnSpc>
                <a:spcPct val="200000"/>
              </a:lnSpc>
              <a:defRPr>
                <a:solidFill/>
              </a:defRPr>
            </a:pPr>
            <a:r>
              <a:rPr kumimoji="1" lang="zh-CN" altLang="en-US" b="1" dirty="0">
                <a:solidFill/>
              </a:rPr>
              <a:t>Clean Code, High Cost</a:t>
            </a:r>
            <a:endParaRPr kumimoji="1" lang="en-US" altLang="zh-CN" dirty="0"/>
          </a:p>
          <a:p>
            <a:pPr marL="0" indent="0">
              <a:lnSpc>
                <a:spcPct val="150000"/>
              </a:lnSpc>
              <a:buFont typeface="Arial" panose="020B0604020202020204"/>
              <a:buNone/>
              <a:defRPr>
                <a:solidFill/>
              </a:defRPr>
            </a:pPr>
            <a:r>
              <a:rPr kumimoji="1" lang="zh-CN" altLang="en-US" sz="2200" dirty="0">
                <a:solidFill/>
              </a:rPr>
              <a:t>Anti-slop cuts verbosity 34.5% but slopes persist. Costs rise 47.9% with no gain. Graph confirms unchanged decay trends.</a:t>
            </a:r>
            <a:endParaRPr kumimoji="1" lang="en-US" altLang="zh-CN" sz="2200" dirty="0"/>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图片 3" descr="e443da02_x5.png"/>
          <p:cNvPicPr>
            <a:picLocks noChangeAspect="1"/>
          </p:cNvPicPr>
          <p:nvPr/>
        </p:nvPicPr>
        <p:blipFill>
          <a:blip r:embed="rId2"/>
          <a:stretch>
            <a:fillRect/>
          </a:stretch>
        </p:blipFill>
        <p:spPr>
          <a:xfrm>
            <a:off x="5083176" y="1003300"/>
            <a:ext cx="4919071" cy="3403600"/>
          </a:xfrm>
          <a:prstGeom prst="rect">
            <a:avLst/>
          </a:prstGeom>
        </p:spPr>
      </p:pic>
      <p:sp>
        <p:nvSpPr>
          <p:cNvPr id="3" name="标题 2"/>
          <p:cNvSpPr>
            <a:spLocks noGrp="1"/>
          </p:cNvSpPr>
          <p:nvPr>
            <p:ph type="title"/>
          </p:nvPr>
        </p:nvSpPr>
        <p:spPr/>
        <p:txBody>
          <a:bodyPr>
            <a:normAutofit/>
          </a:bodyPr>
          <a:lstStyle>
            <a:lvl1pPr>
              <a:defRPr>
                <a:solidFill/>
              </a:defRPr>
            </a:lvl1pPr>
          </a:lstStyle>
          <a:p>
            <a:pPr>
              <a:defRPr>
                <a:solidFill/>
              </a:defRPr>
            </a:pPr>
            <a:r>
              <a:rPr kumimoji="1" lang="en-US" altLang="zh-CN" dirty="0">
                <a:solidFill/>
              </a:rPr>
              <a:t>Test Pass Rates</a:t>
            </a:r>
            <a:endParaRPr kumimoji="1" lang="en-US" altLang="zh-CN" dirty="0">
              <a:solidFill/>
            </a:endParaRPr>
          </a:p>
        </p:txBody>
      </p:sp>
      <p:sp>
        <p:nvSpPr>
          <p:cNvPr id="8" name="内容占位符 1"/>
          <p:cNvSpPr txBox="1"/>
          <p:nvPr/>
        </p:nvSpPr>
        <p:spPr>
          <a:xfrm>
            <a:off x="361493" y="1051562"/>
            <a:ext cx="4654388" cy="5413406"/>
          </a:xfrm>
          <a:prstGeom prst="rect">
            <a:avLst/>
          </a:prstGeom>
          <a:noFill/>
        </p:spPr>
        <p:txBody>
          <a:bodyPr vert="horz" lIns="91440" tIns="45720" rIns="91440" bIns="45720" rtlCol="0" anchor="t">
            <a:normAutofit/>
          </a:bodyPr>
          <a:lstStyle>
            <a:lvl1pPr marL="257175" indent="-257175" algn="l" defTabSz="342900" rtl="0" eaLnBrk="1" latinLnBrk="0" hangingPunct="1">
              <a:spcBef>
                <a:spcPct val="20000"/>
              </a:spcBef>
              <a:buFont typeface="Arial" panose="020B0604020202020204"/>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557530" indent="-21463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9pPr>
          </a:lstStyle>
          <a:p>
            <a:pPr>
              <a:lnSpc>
                <a:spcPct val="200000"/>
              </a:lnSpc>
              <a:defRPr>
                <a:solidFill/>
              </a:defRPr>
            </a:pPr>
            <a:r>
              <a:rPr kumimoji="1" lang="zh-CN" altLang="en-US" b="1" dirty="0">
                <a:solidFill/>
              </a:rPr>
              <a:t>Test Pass Rate Decline</a:t>
            </a:r>
            <a:endParaRPr kumimoji="1" lang="en-US" altLang="zh-CN" dirty="0"/>
          </a:p>
          <a:p>
            <a:pPr marL="0" indent="0">
              <a:lnSpc>
                <a:spcPct val="150000"/>
              </a:lnSpc>
              <a:buFont typeface="Arial" panose="020B0604020202020204"/>
              <a:buNone/>
              <a:defRPr>
                <a:solidFill/>
              </a:defRPr>
            </a:pPr>
            <a:r>
              <a:rPr kumimoji="1" lang="zh-CN" altLang="en-US" sz="2200" dirty="0">
                <a:solidFill/>
              </a:rPr>
              <a:t>• Error shows highest initial pass rate. • Core and Functionality decline over time. • Tracks Start to Final stages.</a:t>
            </a:r>
            <a:endParaRPr kumimoji="1" lang="en-US" altLang="zh-CN" sz="2200" dirty="0"/>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灯片编号占位符 1"/>
          <p:cNvSpPr>
            <a:spLocks noGrp="1"/>
          </p:cNvSpPr>
          <p:nvPr>
            <p:ph type="sldNum" sz="quarter" idx="12"/>
          </p:nvPr>
        </p:nvSpPr>
        <p:spPr/>
        <p:txBody>
          <a:bodyPr/>
          <a:lstStyle>
            <a:lvl1pPr>
              <a:defRPr>
                <a:solidFill/>
              </a:defRPr>
            </a:lvl1pPr>
          </a:lstStyle>
          <a:p>
            <a:pPr>
              <a:defRPr>
                <a:solidFill/>
              </a:defRPr>
            </a:pPr>
            <a:fld id="{184837EA-8E75-5C46-B6C5-33E17701B5D3}" type="slidenum">
              <a:rPr kumimoji="1" lang="zh-CN" altLang="en-US" smtClean="0"/>
            </a:fld>
            <a:endParaRPr kumimoji="1" lang="zh-CN" altLang="en-US"/>
          </a:p>
        </p:txBody>
      </p:sp>
      <p:sp>
        <p:nvSpPr>
          <p:cNvPr id="3" name="内容占位符 2"/>
          <p:cNvSpPr>
            <a:spLocks noGrp="1"/>
          </p:cNvSpPr>
          <p:nvPr>
            <p:ph sz="quarter" idx="13"/>
          </p:nvPr>
        </p:nvSpPr>
        <p:spPr/>
        <p:txBody>
          <a:bodyPr>
            <a:normAutofit/>
          </a:bodyPr>
          <a:lstStyle>
            <a:lvl1pPr>
              <a:defRPr>
                <a:solidFill/>
              </a:defRPr>
            </a:lvl1pPr>
          </a:lstStyle>
          <a:p>
            <a:pPr>
              <a:defRPr>
                <a:solidFill/>
              </a:defRPr>
            </a:pPr>
            <a:r>
              <a:rPr kumimoji="1" lang="zh-CN" altLang="en-US" sz="4800" dirty="0">
                <a:solidFill>
                  <a:schemeClr val="bg1"/>
                </a:solidFill>
              </a:rPr>
              <a:t>Thank You!</a:t>
            </a:r>
            <a:endParaRPr kumimoji="1" lang="zh-CN" altLang="en-US" sz="4800" dirty="0">
              <a:solidFill>
                <a:schemeClr val="bg1"/>
              </a:solidFill>
            </a:endParaRPr>
          </a:p>
        </p:txBody>
      </p:sp>
    </p:spTree>
  </p:cSld>
  <p:clrMapOvr>
    <a:masterClrMapping/>
  </p:clrMapOvr>
</p:sld>
</file>

<file path=ppt/theme/theme1.xml><?xml version="1.0" encoding="utf-8"?>
<a:theme xmlns:a="http://schemas.openxmlformats.org/drawingml/2006/main" name="CNIC">
  <a:themeElements>
    <a:clrScheme name="办公室">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办公室">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办公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2249</Words>
  <Application>WPS 演示</Application>
  <PresentationFormat>宽屏</PresentationFormat>
  <Paragraphs>56</Paragraphs>
  <Slides>10</Slides>
  <Notes>6</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10</vt:i4>
      </vt:variant>
    </vt:vector>
  </HeadingPairs>
  <TitlesOfParts>
    <vt:vector size="21" baseType="lpstr">
      <vt:lpstr>Arial</vt:lpstr>
      <vt:lpstr>宋体</vt:lpstr>
      <vt:lpstr>Wingdings</vt:lpstr>
      <vt:lpstr>Arial</vt:lpstr>
      <vt:lpstr>黑体</vt:lpstr>
      <vt:lpstr>微软雅黑</vt:lpstr>
      <vt:lpstr>Comic Sans MS</vt:lpstr>
      <vt:lpstr>Calibri</vt:lpstr>
      <vt:lpstr>Arial Unicode MS</vt:lpstr>
      <vt:lpstr>等线</vt:lpstr>
      <vt:lpstr>CNIC</vt:lpstr>
      <vt:lpstr>PowerPoint 演示文稿</vt:lpstr>
      <vt:lpstr>What are Agents?</vt:lpstr>
      <vt:lpstr>When (and when not) to use Agents</vt:lpstr>
      <vt:lpstr>Common Frameworks for Agents</vt:lpstr>
      <vt:lpstr>Building Blocks and Workflows</vt:lpstr>
      <vt:lpstr>Agents in Practice</vt:lpstr>
      <vt:lpstr>Key Principles for Building Effective Agents</vt:lpstr>
      <vt:lpstr>LLM Interaction</vt:lpstr>
      <vt:lpstr>LLM Call Generator and Evaluator</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吴炜</cp:lastModifiedBy>
  <cp:revision>35</cp:revision>
  <dcterms:created xsi:type="dcterms:W3CDTF">2026-04-30T11:51:00Z</dcterms:created>
  <dcterms:modified xsi:type="dcterms:W3CDTF">2026-04-30T11:53:04Z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4DA4DB001A1F41158937266F0B7928E7_12</vt:lpwstr>
  </property>
  <property fmtid="{D5CDD505-2E9C-101B-9397-08002B2CF9AE}" pid="3" name="KSOProductBuildVer">
    <vt:lpwstr>2052-12.1.0.25865</vt:lpwstr>
  </property>
</Properties>
</file>