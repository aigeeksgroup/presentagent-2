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8"/>
    <p:sldId id="257" r:id="rId9"/>
    <p:sldId id="258" r:id="rId10"/>
    <p:sldId id="259" r:id="rId11"/>
    <p:sldId id="260" r:id="rId12"/>
    <p:sldId id="261" r:id="rId7"/>
    <p:sldId id="262" r:id="rId6"/>
    <p:sldId id="2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24BF8E4-71D8-5144-BD12-393016A0C3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" initials="LJ" lastIdx="3" clrIdx="0"/>
  <p:cmAuthor id="2" name="Ludovic Liu" initials="LL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6"/>
    <p:restoredTop sz="94607"/>
  </p:normalViewPr>
  <p:slideViewPr>
    <p:cSldViewPr showGuides="1">
      <p:cViewPr varScale="1">
        <p:scale>
          <a:sx n="91" d="100"/>
          <a:sy n="91" d="100"/>
        </p:scale>
        <p:origin x="224" y="888"/>
      </p:cViewPr>
      <p:guideLst>
        <p:guide orient="horz" pos="2364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98786-8DB6-F04C-9F57-77556B8E1BF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3EE2F-51E3-E245-8187-288F33EED69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Welcome to our presentation on the new functional layout system.</a:t>
            </a:r>
          </a:p>
          <a:p>
            <a:r>
              <a:t>Speaker B: This title slide captures our joint contributions and the project timeline to set the context.</a:t>
            </a:r>
          </a:p>
          <a:p>
            <a:r>
              <a:t>Speaker A: We will use these foundational details to frame the technical methodology coming up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This diagram illustrates the core ThinkAct architecture, where a reasoning MLLM generates step-by-step plans that directly guide robot actions.</a:t>
            </a:r>
          </a:p>
          <a:p>
            <a:r>
              <a:t>Speaker B: Right, and we use action-aligned rewards derived from visual trajectories to incentivize the embodied reasoning capability of that MLLM.</a:t>
            </a:r>
          </a:p>
          <a:p>
            <a:r>
              <a:t>Speaker A: The optimization process leverages GRPO to align the model planning with specific executable outcomes.</a:t>
            </a:r>
          </a:p>
          <a:p>
            <a:r>
              <a:t>Speaker B: These plan latents condition the DiT-based Action Model to predict executable actions while keeping the reasoning MLLM frozen.</a:t>
            </a:r>
          </a:p>
          <a:p>
            <a:r>
              <a:t>Speaker A: Consequently, asynchronous operation during inference enables slow thinking paired with fast control for VLA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To validate our approach, we conducted quantitative comparisons across standard robot manipulation benchmarks. This table summarizes how ThinkAct performs against existing baseline models.</a:t>
            </a:r>
          </a:p>
          <a:p>
            <a:r>
              <a:t>Speaker B: Using established datasets like SimplerEnv and LIBERO ensures our validation is robust and directly comparable to prior work.</a:t>
            </a:r>
          </a:p>
          <a:p>
            <a:r>
              <a:t>Speaker A: Looking at the scores, ThinkAct achieves the best results across multiple task splits, indicated by the bold values in each row. We see consistent improvement over baselines ranging from Octo-Base.</a:t>
            </a:r>
          </a:p>
          <a:p>
            <a:r>
              <a:t>Speaker B: This consistency across different environments confirms the model generalizes well rather than overfitting to a single task type.</a:t>
            </a:r>
          </a:p>
          <a:p>
            <a:r>
              <a:t>Speaker A: Ultimately, these metrics demonstrate that ThinkAct delivers superior performance in complex manipulation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evaluated ThinkAct across embodied reasoning benchmarks including EgoPlan-Bench2 and RoboVQA. This table summarizes the quantitative comparison against strong baselines like GPT-4V.</a:t>
            </a:r>
          </a:p>
          <a:p>
            <a:r>
              <a:t>Speaker B: Exactly, and notice that we used multiple metrics and splits to ensure the assessment is robust across different vision and robotics tasks. The bolded scores highlight where our model achieves state-of-the-art performance.</a:t>
            </a:r>
          </a:p>
          <a:p>
            <a:r>
              <a:t>Speaker A: As you can see in the rows, ThinkAct consistently outperforms the Qwen2.5-VL variants and GPT-4V. This is particularly evident in the manipulation and planning task columns where our scores are highest.</a:t>
            </a:r>
          </a:p>
          <a:p>
            <a:r>
              <a:t>Speaker B: That consistency across diverse benchmarks confirms the model's generalization capability beyond just a single dataset. It demonstrates that the architecture handles complex embodied reasoning more effectively than existing vision-language models.</a:t>
            </a:r>
          </a:p>
          <a:p>
            <a:r>
              <a:t>Speaker A: So, the key takeaway is that ThinkAct delivers superior performance in both perception and action planning. This validates our approach before we move on to the qualitative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To validate our approach, we conducted quantitative evaluations on the SimplerEnv and LIBERO benchmarks. We measured success rates across Spatial, Object, and Goal categories to ensure a comprehensive analysis.</a:t>
            </a:r>
          </a:p>
          <a:p>
            <a:r>
              <a:t>Speaker B: Exactly, this breakdown matters because it shows generalization rather than success on a single task type. Looking at the charts, you can see ThinkAct maintains the lead across every category.</a:t>
            </a:r>
          </a:p>
          <a:p>
            <a:r>
              <a:t>Speaker A: That's right. As the bolded values indicate, ThinkAct consistently outperforms both OpenVLA and Magma models in all tested categories. The gap is particularly visible in the Average success rate on both charts.</a:t>
            </a:r>
          </a:p>
          <a:p>
            <a:r>
              <a:t>Speaker B: Another way to say this is that the performance isn't sporadic; it's robust across different manipulation challenges. This consistency is critical for deploying reliable robot agents.</a:t>
            </a:r>
          </a:p>
          <a:p>
            <a:r>
              <a:t>Speaker A: So, the key takeaway is that ThinkAct delivers superior manipulation capabilities without sacrificing performance in specific sub-tasks. This establishes a new state-of-the-art on these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Here we demonstrate the qualitative results of intermediate reasoning steps and trajectories during robot manipulation tasks on SimplerEnv and LIBERO.</a:t>
            </a:r>
          </a:p>
          <a:p>
            <a:r>
              <a:t>Speaker B: Notice how the system enables self-reflection, identifying failures in real-time to generate revised plans that guide the action model.</a:t>
            </a:r>
          </a:p>
          <a:p>
            <a:r>
              <a:t>Speaker A: These capabilities allow ThinkAct to outperform DiT-Policy and OpenVLA baselines significantly across multiple benchmarks.</a:t>
            </a:r>
          </a:p>
          <a:p>
            <a:r>
              <a:t>Speaker B: Exactly, and this matters because it effectively handles complex embodied reasoning tasks that typically break standard policies.</a:t>
            </a:r>
          </a:p>
          <a:p>
            <a:r>
              <a:t>Speaker A: So, the combination of asynchronous reasoning and action-aligned visual rewards delivers robust execution in diverse scenes.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This slide highlights the self-correction capability where the reasoning MLLM identifies task failures and generates a revised plan.</a:t>
            </a:r>
          </a:p>
          <a:p>
            <a:r>
              <a:t>Speaker B: That autonomy matters because it allows the system to recover and guide the action model to complete the intended task rather than stopping.</a:t>
            </a:r>
          </a:p>
          <a:p>
            <a:r>
              <a:t>Speaker A: In the diagram, you can see how plan latents guide the action model asynchronously while we use action-aligned visual rewards for GRPO optimization.</a:t>
            </a:r>
          </a:p>
          <a:p>
            <a:r>
              <a:t>Speaker B: Exactly - this alignment ensures the reasoning process directly supports precise robot actions through the optimization loop.</a:t>
            </a:r>
          </a:p>
          <a:p>
            <a:r>
              <a:t>Speaker A: The result is a robust system that demonstrates self-reflection and successfully completes tasks after the correction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This brings us to the conclusion of our presentation on the functional layout design.</a:t>
            </a:r>
          </a:p>
          <a:p>
            <a:r>
              <a:t>Speaker B: Indeed - this completes our overview of how the schema supports the system architecture.</a:t>
            </a:r>
          </a:p>
          <a:p>
            <a:r>
              <a:t>Speaker A: Thank you all for your time and attention today.</a:t>
            </a:r>
          </a:p>
          <a:p>
            <a:r>
              <a:t>Speaker B: We appreciate the opportunity to share these findings with you.</a:t>
            </a:r>
          </a:p>
          <a:p>
            <a:r>
              <a:t>Speaker A: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0" y="1716629"/>
            <a:ext cx="12192001" cy="1610767"/>
          </a:xfrm>
          <a:solidFill>
            <a:srgbClr val="375AA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sz="2400" dirty="0">
                <a:solidFill>
                  <a:schemeClr val="bg1"/>
                </a:solidFill>
              </a:rPr>
              <a:t>单击此处编辑母版标题样式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3575188"/>
            <a:ext cx="12192001" cy="1143000"/>
          </a:xfrm>
        </p:spPr>
        <p:txBody>
          <a:bodyPr/>
          <a:lstStyle>
            <a:lvl1pPr>
              <a:defRPr b="1">
                <a:solidFill>
                  <a:srgbClr val="194297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61492" y="1051562"/>
            <a:ext cx="11469016" cy="541340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  <p:cxnSp>
        <p:nvCxnSpPr>
          <p:cNvPr id="10" name="直接连接符 2"/>
          <p:cNvCxnSpPr/>
          <p:nvPr userDrawn="1"/>
        </p:nvCxnSpPr>
        <p:spPr>
          <a:xfrm>
            <a:off x="361492" y="879000"/>
            <a:ext cx="11469016" cy="0"/>
          </a:xfrm>
          <a:prstGeom prst="line">
            <a:avLst/>
          </a:prstGeom>
          <a:ln w="28575">
            <a:solidFill>
              <a:srgbClr val="385A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/>
        </p:nvSpPr>
        <p:spPr>
          <a:xfrm>
            <a:off x="11686448" y="6499065"/>
            <a:ext cx="288121" cy="28812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675815" y="6467540"/>
            <a:ext cx="307910" cy="34091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A3F35204-DFFB-A947-BE2B-25CB3E0633F6}" type="slidenum">
              <a:rPr kumimoji="1"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361492" y="146627"/>
            <a:ext cx="10972800" cy="774447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9429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0" y="2422527"/>
            <a:ext cx="12192001" cy="1610767"/>
          </a:xfrm>
          <a:solidFill>
            <a:srgbClr val="375AA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sz="2400" dirty="0">
                <a:solidFill>
                  <a:schemeClr val="bg1"/>
                </a:solidFill>
              </a:rPr>
              <a:t>单击此处编辑母版标题样式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61492" y="1051562"/>
            <a:ext cx="11469016" cy="5413406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en-US" altLang="zh-CN" dirty="0"/>
              <a:t>Headline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  <p:cxnSp>
        <p:nvCxnSpPr>
          <p:cNvPr id="10" name="直接连接符 2"/>
          <p:cNvCxnSpPr/>
          <p:nvPr userDrawn="1"/>
        </p:nvCxnSpPr>
        <p:spPr>
          <a:xfrm>
            <a:off x="361492" y="879000"/>
            <a:ext cx="11469016" cy="0"/>
          </a:xfrm>
          <a:prstGeom prst="line">
            <a:avLst/>
          </a:prstGeom>
          <a:ln w="28575">
            <a:solidFill>
              <a:srgbClr val="385A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/>
        </p:nvSpPr>
        <p:spPr>
          <a:xfrm>
            <a:off x="11686448" y="6499065"/>
            <a:ext cx="288121" cy="28812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675815" y="6467540"/>
            <a:ext cx="307910" cy="34091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A3F35204-DFFB-A947-BE2B-25CB3E0633F6}" type="slidenum">
              <a:rPr kumimoji="1"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361492" y="146627"/>
            <a:ext cx="10972800" cy="774447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9429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96912" y="6657628"/>
            <a:ext cx="2844800" cy="200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71797" y="6657628"/>
            <a:ext cx="3860800" cy="173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48272" y="6657625"/>
            <a:ext cx="2844800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ThinkAct: Visual Planning</a:t>
            </a:r>
            <a:endParaRPr kumimoji="1"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>
                <a:solidFill/>
              </a:defRPr>
            </a:pPr>
            <a:r>
              <a:rPr kumimoji="1"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Huang et al. | 2025</a:t>
            </a:r>
            <a:endParaRPr kumimoji="1"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60e72853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157859"/>
            <a:ext cx="7086600" cy="3094482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ThinkAct Method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Reasoning-Action Flow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Diagram: MLLM plans via visual rewards.</a:t>
            </a:r>
            <a:endParaRPr kumimoji="1" lang="en-US" altLang="zh-CN" sz="2200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DiT Action Model executes plan latents.</a:t>
            </a:r>
            <a:endParaRPr kumimoji="1" lang="en-US" altLang="zh-CN" sz="2200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Async flow: slow thinking, fast control.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689e75c0_robo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204039"/>
            <a:ext cx="7086600" cy="300212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Benchmark Data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ThinkAct vs. Baselines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ThinkAct exceeds Octo-Base on Simpler-Google, Bridge, and LIBERO. Bold values denote best results across task splits.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beda704e_qa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050230"/>
            <a:ext cx="7086600" cy="3309738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Benchmark Stats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Outperforming Baseline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Table shows ThinkAct leads GPT-4V and Qwen. Bold scores denote best results across EgoPlan, RoboVQA, OpenEQA.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fb05f934_few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312836"/>
            <a:ext cx="7086600" cy="278452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Success Rates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Highest Success Rates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ThinkAct leads Spatial, Object, Goal. Top scores show consistent outperformance of OpenVLA and Magma on benchmarks.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83176" y="1007723"/>
            <a:ext cx="7086600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Reasoning Demo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Intermediate Reasoning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See MLLM generate plans guiding robot actions. Trajectories show task completion on SimplerEnv and LIBERO benchmarks.</a:t>
            </a:r>
            <a:endParaRPr kumimoji="1" lang="en-US" altLang="zh-C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evt="onBegin"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60e72853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157859"/>
            <a:ext cx="7086600" cy="3094482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Self-Correction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Self-Reflection Cycle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MLLM spots failures in diagram. Plan latents revise action model. Loop ensures robust task completion.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sz="4800" dirty="0">
                <a:solidFill>
                  <a:schemeClr val="bg1"/>
                </a:solidFill>
              </a:rPr>
              <a:t>Thank You!</a:t>
            </a:r>
            <a:endParaRPr kumimoji="1" lang="zh-CN" alt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NIC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WPS 演示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黑体</vt:lpstr>
      <vt:lpstr>微软雅黑</vt:lpstr>
      <vt:lpstr>Comic Sans MS</vt:lpstr>
      <vt:lpstr>Calibri</vt:lpstr>
      <vt:lpstr>Arial Unicode MS</vt:lpstr>
      <vt:lpstr>等线</vt:lpstr>
      <vt:lpstr>CNIC</vt:lpstr>
      <vt:lpstr>PowerPoint 演示文稿</vt:lpstr>
      <vt:lpstr>What are Agents?</vt:lpstr>
      <vt:lpstr>When (and when not) to use Agents</vt:lpstr>
      <vt:lpstr>Common Frameworks for Agents</vt:lpstr>
      <vt:lpstr>Building Blocks and Workflows</vt:lpstr>
      <vt:lpstr>Agents in Practice</vt:lpstr>
      <vt:lpstr>Key Principles for Building Effective Agents</vt:lpstr>
      <vt:lpstr>LLM Interaction</vt:lpstr>
      <vt:lpstr>LLM Call Generator and Evaluator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吴炜</cp:lastModifiedBy>
  <cp:revision>35</cp:revision>
  <dcterms:created xsi:type="dcterms:W3CDTF">2026-04-30T11:51:00Z</dcterms:created>
  <dcterms:modified xsi:type="dcterms:W3CDTF">2026-04-30T11:53:04Z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4DA4DB001A1F41158937266F0B7928E7_12</vt:lpwstr>
  </property>
  <property fmtid="{D5CDD505-2E9C-101B-9397-08002B2CF9AE}" pid="3" name="KSOProductBuildVer">
    <vt:lpwstr>2052-12.1.0.25865</vt:lpwstr>
  </property>
</Properties>
</file>