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8"/>
    <p:sldId id="257" r:id="rId9"/>
    <p:sldId id="258" r:id="rId10"/>
    <p:sldId id="259" r:id="rId11"/>
    <p:sldId id="260" r:id="rId12"/>
    <p:sldId id="261" r:id="rId7"/>
    <p:sldId id="262" r:id="rId6"/>
    <p:sldId id="263" r:id="rId5"/>
    <p:sldId id="264" r:id="rId4"/>
    <p:sldId id="265"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24BF8E4-71D8-5144-BD12-393016A0C3FF}">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15:guide id="1" orient="horz" pos="2364"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 initials="LJ" lastIdx="3" clrIdx="0"/>
  <p:cmAuthor id="2" name="Ludovic Liu" initials="LL"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6"/>
    <p:restoredTop sz="94607"/>
  </p:normalViewPr>
  <p:slideViewPr>
    <p:cSldViewPr showGuides="1">
      <p:cViewPr varScale="1">
        <p:scale>
          <a:sx n="91" d="100"/>
          <a:sy n="91" d="100"/>
        </p:scale>
        <p:origin x="224" y="888"/>
      </p:cViewPr>
      <p:guideLst>
        <p:guide orient="horz" pos="2364"/>
        <p:guide pos="3817"/>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0.xml"/><Relationship Id="rId4" Type="http://schemas.openxmlformats.org/officeDocument/2006/relationships/slide" Target="slides/slide9.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 Id="rId1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98786-8DB6-F04C-9F57-77556B8E1BF3}"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3EE2F-51E3-E245-8187-288F33EED69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I'll walk you through our strategic project overview and the key milestones we have achieved recently. We will explore the core mechanisms driving our success and discuss the implications for future growth across the team to ensure we are all aligned. This session is designed to highlight actionable insights that matter most to our shared goals and identify opportunities for improvement to ensure sustained progress moving forward. Please feel free to interrupt me if you have any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human action recognition in RGB videos is mature, its three-dimensional point cloud counterpart remains significantly under-explored. This disparity highlights a critical gap where spatial understanding lags behind due to data complexity. Specifically, point clouds lack structure and exhibit permutation invariance, causing standard convolutional operations to fail. Consequently, learning effective spatio-temporal representations poses a major hurdle for developing robust systems in this domain. Addressing these inherent limitations is essential to bridge the gap between two-dimensional video analysis and three-dimensional spatial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on to our proposed method, 3DinAction, we introduce a novel framework designed for 3D point cloud action recognition. Unlike existing approaches, this pipeline effectively processes dynamic 3D data to handle complex spatial structures over time. The core architecture relies on estimating patches moving in time, called t-patches, serving as key building blocks. We also employ a hierarchical architecture to learn informative spatio-temporal representations. This dual approach ensures temporal motion and spatial hierarchy are jointly optimized, resulting in robust feature extraction for accurate recognition tasks.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our experimental results, we validated the proposed method against established benchmarks to ensure true robustness. Testing covered both the DFAUST and IKEA ASM datasets, which are critical for accuracy verification in this domain. The data reveals significant advantages over previous approaches, particularly when handling complex data structures. By relying on standard evaluation metrics, we confirmed that this new technique delivers improved performance overall. Ultimately, these findings suggest our method offers a reliable solution for challenging scenarios where prior models often struggle to maintain consistency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the diagram, you can see how our pipeline processes point cloud sequences for action recognition. First, we extract specific t-patches from input frames and encode them hierarchically using shared weights within t-Patch Nets. This captures complex spatial-temporal features effectively. Next, these patch vectors undergo global pooling to create comprehensive per-frame embeddings. Finally, a classifier uses these aggregated features to output action predictions for each frame. This hierarchical approach ensures that local patch details inform the global frame-level decision, improving recognition accuracy significantly.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on the animation demonstrating t-Patch construction. We begin by selecting an origin point, then iteratively identify nearest neighbours in the subsequent frame. This repeats across time steps, forming a cohesive subset represented by the distinct non-black points. By linking points temporally rather than just spatially, this mechanism captures continuous motion patterns essential for accurate action recognition. Ultimately, this dynamic construction ensures our pipeline understands how objects move through space over time, significantly improving prediction precision compared to static methods that ignore temporal continuity between frames.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we demonstrate method interpretability using an extended GradCAM algorithm tailored for our 3DinAction pipeline. This adaptation assigns a score to every point within each temporal patch, proportional to its influence on the classification decision. As shown in the visualization videos, prominent regions align with informative motion, such as the hands during jumping jacks. This confirms our architecture learns meaningful representations rather than relying on noise. Ultimately, this fine-grained analysis validates that specific point movements drive accurate action predictions within our hierarchical system.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dual-modality visualization analyzes assembly actions. The top row shows RGB images, while the bottom enhances 3D point clouds with t-patches for precise spatial understanding. This combination tracks movements like flipping the TV bench. Additionally, semantic segmentation uses color coding to distinguish dynamic from static elements. Moving components appear in blue, the arm in maroon, and static backgrounds in green. This distinction allows accurate analysis of object interactions during complex tasks, ensuring robust performance where precise spatial awareness is critical for success.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we arrive at our references, grounding our findings in established research. Here we list key papers supporting our analysis, ensuring transparency and reproducibility. By citing these sources, we acknowledge foundational work making this study possible and allow you to explore the methodology further. These citations validate our approach and provide a pathway for you to verify our data independently. Reviewing these materials offers deeper context surrounding our specific claims and limitations. I welcome any questions regarding our sources or final conclusions.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all for your time and attention today. We have covered significant ground, and I hope the insights shared provide a clear path forward for your projects. This concludes our formal presentation, but I am eager to hear your thoughts and address any specific concerns you might have. Please feel free to ask questions now or reach out later for further discussion. Your engagement is valuable, and I appreciate the opportunity to share this work with you. Let's open the floor for any final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3" name="内容占位符 12"/>
          <p:cNvSpPr>
            <a:spLocks noGrp="1"/>
          </p:cNvSpPr>
          <p:nvPr>
            <p:ph sz="quarter" idx="13" hasCustomPrompt="1"/>
          </p:nvPr>
        </p:nvSpPr>
        <p:spPr>
          <a:xfrm>
            <a:off x="0" y="1716629"/>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
        <p:nvSpPr>
          <p:cNvPr id="2" name="标题 1"/>
          <p:cNvSpPr>
            <a:spLocks noGrp="1"/>
          </p:cNvSpPr>
          <p:nvPr>
            <p:ph type="title"/>
          </p:nvPr>
        </p:nvSpPr>
        <p:spPr>
          <a:xfrm>
            <a:off x="-1" y="3575188"/>
            <a:ext cx="12192001" cy="1143000"/>
          </a:xfrm>
        </p:spPr>
        <p:txBody>
          <a:bodyPr/>
          <a:lstStyle>
            <a:lvl1pPr>
              <a:defRPr b="1">
                <a:solidFill>
                  <a:srgbClr val="194297"/>
                </a:solidFill>
                <a:latin typeface="黑体" panose="02010609060101010101" pitchFamily="49" charset="-122"/>
                <a:ea typeface="黑体" panose="02010609060101010101" pitchFamily="49" charset="-122"/>
              </a:defRPr>
            </a:lvl1pPr>
          </a:lstStyle>
          <a:p>
            <a:r>
              <a:rPr kumimoji="1" lang="zh-CN" altLang="en-US" dirty="0"/>
              <a:t>单击此处编辑母版标题样式</a:t>
            </a:r>
            <a:endParaRPr kumimoji="1" lang="zh-CN" altLang="en-US" dirty="0"/>
          </a:p>
        </p:txBody>
      </p:sp>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defRPr sz="2400">
                <a:solidFill>
                  <a:schemeClr val="tx1"/>
                </a:solidFill>
                <a:latin typeface="微软雅黑" panose="020B0503020204020204" pitchFamily="34" charset="-122"/>
                <a:ea typeface="微软雅黑" panose="020B0503020204020204" pitchFamily="34" charset="-122"/>
              </a:defRPr>
            </a:lvl1pPr>
            <a:lvl2pPr>
              <a:defRPr sz="2000">
                <a:solidFill>
                  <a:schemeClr val="tx1"/>
                </a:solidFill>
                <a:latin typeface="微软雅黑" panose="020B0503020204020204" pitchFamily="34" charset="-122"/>
                <a:ea typeface="微软雅黑" panose="020B0503020204020204" pitchFamily="34" charset="-122"/>
              </a:defRPr>
            </a:lvl2pPr>
            <a:lvl3pPr>
              <a:defRPr sz="2000">
                <a:solidFill>
                  <a:schemeClr val="tx1"/>
                </a:solidFill>
                <a:latin typeface="微软雅黑" panose="020B0503020204020204" pitchFamily="34" charset="-122"/>
                <a:ea typeface="微软雅黑" panose="020B0503020204020204" pitchFamily="34" charset="-122"/>
              </a:defRPr>
            </a:lvl3pPr>
            <a:lvl4pPr>
              <a:defRPr sz="2000">
                <a:solidFill>
                  <a:schemeClr val="tx1"/>
                </a:solidFill>
                <a:latin typeface="微软雅黑" panose="020B0503020204020204" pitchFamily="34" charset="-122"/>
                <a:ea typeface="微软雅黑" panose="020B0503020204020204" pitchFamily="34" charset="-122"/>
              </a:defRPr>
            </a:lvl4pPr>
            <a:lvl5pPr>
              <a:defRPr sz="2000">
                <a:solidFill>
                  <a:schemeClr val="tx1"/>
                </a:solidFill>
                <a:latin typeface="微软雅黑" panose="020B0503020204020204" pitchFamily="34" charset="-122"/>
                <a:ea typeface="微软雅黑" panose="020B0503020204020204" pitchFamily="34" charset="-122"/>
              </a:defRPr>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
        <p:nvSpPr>
          <p:cNvPr id="13" name="内容占位符 12"/>
          <p:cNvSpPr>
            <a:spLocks noGrp="1"/>
          </p:cNvSpPr>
          <p:nvPr>
            <p:ph sz="quarter" idx="13" hasCustomPrompt="1"/>
          </p:nvPr>
        </p:nvSpPr>
        <p:spPr>
          <a:xfrm>
            <a:off x="0" y="2422527"/>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lnSpc>
                <a:spcPct val="130000"/>
              </a:lnSpc>
              <a:defRPr sz="2800">
                <a:solidFill>
                  <a:schemeClr val="tx1"/>
                </a:solidFill>
                <a:latin typeface="Comic Sans MS" panose="030F0702030302020204" pitchFamily="66" charset="0"/>
                <a:ea typeface="微软雅黑" panose="020B0503020204020204" pitchFamily="34" charset="-122"/>
              </a:defRPr>
            </a:lvl1pPr>
            <a:lvl2pPr>
              <a:lnSpc>
                <a:spcPct val="130000"/>
              </a:lnSpc>
              <a:defRPr sz="2400">
                <a:solidFill>
                  <a:schemeClr val="tx1"/>
                </a:solidFill>
                <a:latin typeface="Comic Sans MS" panose="030F0702030302020204" pitchFamily="66" charset="0"/>
                <a:ea typeface="微软雅黑" panose="020B0503020204020204" pitchFamily="34" charset="-122"/>
              </a:defRPr>
            </a:lvl2pPr>
            <a:lvl3pPr>
              <a:lnSpc>
                <a:spcPct val="130000"/>
              </a:lnSpc>
              <a:defRPr sz="2400">
                <a:solidFill>
                  <a:schemeClr val="tx1"/>
                </a:solidFill>
                <a:latin typeface="Comic Sans MS" panose="030F0702030302020204" pitchFamily="66" charset="0"/>
                <a:ea typeface="微软雅黑" panose="020B0503020204020204" pitchFamily="34" charset="-122"/>
              </a:defRPr>
            </a:lvl3pPr>
            <a:lvl4pPr>
              <a:lnSpc>
                <a:spcPct val="130000"/>
              </a:lnSpc>
              <a:defRPr sz="2400">
                <a:solidFill>
                  <a:schemeClr val="tx1"/>
                </a:solidFill>
                <a:latin typeface="Comic Sans MS" panose="030F0702030302020204" pitchFamily="66" charset="0"/>
                <a:ea typeface="微软雅黑" panose="020B0503020204020204" pitchFamily="34" charset="-122"/>
              </a:defRPr>
            </a:lvl4pPr>
            <a:lvl5pPr>
              <a:lnSpc>
                <a:spcPct val="130000"/>
              </a:lnSpc>
              <a:defRPr sz="2400">
                <a:solidFill>
                  <a:schemeClr val="tx1"/>
                </a:solidFill>
                <a:latin typeface="Comic Sans MS" panose="030F0702030302020204" pitchFamily="66" charset="0"/>
                <a:ea typeface="微软雅黑" panose="020B0503020204020204" pitchFamily="34" charset="-122"/>
              </a:defRPr>
            </a:lvl5pPr>
          </a:lstStyle>
          <a:p>
            <a:pPr lvl="0"/>
            <a:r>
              <a:rPr kumimoji="1" lang="en-US" altLang="zh-CN" dirty="0"/>
              <a:t>Headline</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609600" y="1600204"/>
            <a:ext cx="10972800" cy="4525963"/>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596912" y="6657628"/>
            <a:ext cx="2844800" cy="200375"/>
          </a:xfrm>
          <a:prstGeom prst="rect">
            <a:avLst/>
          </a:prstGeom>
        </p:spPr>
        <p:txBody>
          <a:bodyPr vert="horz" lIns="91440" tIns="45720" rIns="91440" bIns="45720" rtlCol="0" anchor="ctr"/>
          <a:lstStyle>
            <a:lvl1pPr algn="l">
              <a:defRPr sz="900">
                <a:solidFill>
                  <a:schemeClr val="bg1"/>
                </a:solidFill>
              </a:defRPr>
            </a:lvl1pPr>
          </a:lstStyle>
          <a:p>
            <a:fld id="{B3551FA5-A072-C74F-B9AC-F2D758607E96}" type="datetime1">
              <a:rPr kumimoji="1" lang="zh-CN" altLang="en-US" smtClean="0"/>
            </a:fld>
            <a:endParaRPr kumimoji="1" lang="zh-CN" altLang="en-US"/>
          </a:p>
        </p:txBody>
      </p:sp>
      <p:sp>
        <p:nvSpPr>
          <p:cNvPr id="5" name="页脚占位符 4"/>
          <p:cNvSpPr>
            <a:spLocks noGrp="1"/>
          </p:cNvSpPr>
          <p:nvPr>
            <p:ph type="ftr" sz="quarter" idx="3"/>
          </p:nvPr>
        </p:nvSpPr>
        <p:spPr>
          <a:xfrm>
            <a:off x="4271797" y="6657628"/>
            <a:ext cx="3860800" cy="173739"/>
          </a:xfrm>
          <a:prstGeom prst="rect">
            <a:avLst/>
          </a:prstGeom>
        </p:spPr>
        <p:txBody>
          <a:bodyPr vert="horz" lIns="91440" tIns="45720" rIns="91440" bIns="45720" rtlCol="0" anchor="ctr"/>
          <a:lstStyle>
            <a:lvl1pPr algn="ctr">
              <a:defRPr sz="900">
                <a:solidFill>
                  <a:schemeClr val="bg1"/>
                </a:solidFill>
              </a:defRPr>
            </a:lvl1pPr>
          </a:lstStyle>
          <a:p>
            <a:endParaRPr kumimoji="1" lang="zh-CN" altLang="en-US"/>
          </a:p>
        </p:txBody>
      </p:sp>
      <p:sp>
        <p:nvSpPr>
          <p:cNvPr id="6" name="幻灯片编号占位符 5"/>
          <p:cNvSpPr>
            <a:spLocks noGrp="1"/>
          </p:cNvSpPr>
          <p:nvPr>
            <p:ph type="sldNum" sz="quarter" idx="4"/>
          </p:nvPr>
        </p:nvSpPr>
        <p:spPr>
          <a:xfrm>
            <a:off x="8748272" y="6657625"/>
            <a:ext cx="2844800" cy="182562"/>
          </a:xfrm>
          <a:prstGeom prst="rect">
            <a:avLst/>
          </a:prstGeom>
        </p:spPr>
        <p:txBody>
          <a:bodyPr vert="horz" lIns="91440" tIns="45720" rIns="91440" bIns="45720" rtlCol="0" anchor="ctr"/>
          <a:lstStyle>
            <a:lvl1pPr algn="r">
              <a:defRPr sz="900">
                <a:solidFill>
                  <a:schemeClr val="bg1"/>
                </a:solidFill>
              </a:defRPr>
            </a:lvl1pPr>
          </a:lstStyle>
          <a:p>
            <a:fld id="{184837EA-8E75-5C46-B6C5-33E17701B5D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panose="020B0604020202020204"/>
        <a:buChar char="•"/>
        <a:defRPr sz="2400" kern="1200">
          <a:solidFill>
            <a:schemeClr val="tx1"/>
          </a:solidFill>
          <a:latin typeface="+mn-lt"/>
          <a:ea typeface="+mn-ea"/>
          <a:cs typeface="+mn-cs"/>
        </a:defRPr>
      </a:lvl1pPr>
      <a:lvl2pPr marL="557530" indent="-214630" algn="l" defTabSz="342900" rtl="0" eaLnBrk="1" latinLnBrk="0" hangingPunct="1">
        <a:spcBef>
          <a:spcPct val="20000"/>
        </a:spcBef>
        <a:buFont typeface="Arial" panose="020B0604020202020204"/>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panose="020B0604020202020204"/>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zh-CN"/>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2.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sz="quarter" idx="13"/>
          </p:nvPr>
        </p:nvSpPr>
        <p:spPr/>
        <p:txBody>
          <a:bodyPr>
            <a:normAutofit/>
          </a:bodyPr>
          <a:lstStyle>
            <a:lvl1pPr>
              <a:defRPr>
                <a:solidFill/>
              </a:defRPr>
            </a:lvl1pPr>
          </a:lstStyle>
          <a:p>
            <a:pPr>
              <a:defRPr>
                <a:solidFill/>
              </a:defRPr>
            </a:pPr>
            <a:r>
              <a:rPr kumimoji="1" lang="en-US" altLang="zh-CN" sz="4000" dirty="0">
                <a:solidFill>
                  <a:schemeClr val="bg1"/>
                </a:solidFill>
                <a:latin typeface="微软雅黑" panose="020B0503020204020204" pitchFamily="34" charset="-122"/>
                <a:ea typeface="微软雅黑" panose="020B0503020204020204" pitchFamily="34" charset="-122"/>
              </a:rPr>
              <a:t>3DInAction: 3D Human Actions</a:t>
            </a:r>
            <a:endParaRPr kumimoji="1" lang="en-US" altLang="zh-CN" sz="400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RGB video action understanding is widely studied, but the 3D point cloud counterpart remains significantly under-explored due to inherent data complexity.</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2D video analysis is mature while 3D spatial understanding lags behind, creating a significant research gap with fewer available action recognition methods.</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Point clouds lack structure and exhibit permutation invariance, making spatio-temporal representation learning difficult for standard convolutions.</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Context &amp; Problem</a:t>
            </a:r>
            <a:endParaRPr kumimoji="1" lang="zh-CN" altLang="en-US" dirty="0">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Proposes 3DinAction, a novel framework for 3D point cloud action recognition designed to handle complex spatial structures over time effectively.</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Estimates patches moving in time, known as t-patches, serving as the key building block to jointly optimize temporal motion and spatial hierarchy.</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Employs a hierarchical architecture to learn informative spatio-temporal representations from input, ensuring dynamic 3D data is processed robustly.</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3DinAction Method</a:t>
            </a:r>
            <a:endParaRPr kumimoji="1" lang="zh-CN" altLang="en-US" dirty="0">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Experimental validation includes comprehensive testing on both DFAUST and IKEA ASM datasets to ensure system robustness across diverse scenarios.</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Results indicate significant advantages over previous approaches in this specific research domain when handling complex data structures effectively.</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Standard evaluation metrics confirm the overall effectiveness of the new technique used for 3D action understanding and point cloud analysis.</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Results &amp; Datasets</a:t>
            </a:r>
            <a:endParaRPr kumimoji="1" lang="zh-CN" altLang="en-US" dirty="0">
              <a:solidFill/>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c52dbb3e_pipeline.png"/>
          <p:cNvPicPr>
            <a:picLocks noChangeAspect="1"/>
          </p:cNvPicPr>
          <p:nvPr/>
        </p:nvPicPr>
        <p:blipFill>
          <a:blip r:embed="rId2"/>
          <a:stretch>
            <a:fillRect/>
          </a:stretch>
        </p:blipFill>
        <p:spPr>
          <a:xfrm>
            <a:off x="5083176" y="1003300"/>
            <a:ext cx="6051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t-Patch Process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Pipeline Flow Overview</a:t>
            </a:r>
            <a:endParaRPr kumimoji="1" lang="en-US" altLang="zh-CN" dirty="0"/>
          </a:p>
          <a:p>
            <a:pPr marL="0" indent="0">
              <a:lnSpc>
                <a:spcPct val="150000"/>
              </a:lnSpc>
              <a:buFont typeface="Arial" panose="020B0604020202020204"/>
              <a:buNone/>
              <a:defRPr>
                <a:solidFill/>
              </a:defRPr>
            </a:pPr>
            <a:r>
              <a:rPr kumimoji="1" lang="zh-CN" altLang="en-US" sz="2200" dirty="0">
                <a:solidFill/>
              </a:rPr>
              <a:t>Hierarchical t-patch extraction. Shared weights embed. Pooling aggregates vectors. Features drive predictions shown.</a:t>
            </a:r>
            <a:endParaRPr kumimoji="1" lang="en-US" altLang="zh-CN" sz="22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t-Patch Process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Iterative Construction</a:t>
            </a:r>
            <a:endParaRPr kumimoji="1" lang="en-US" altLang="zh-CN" dirty="0"/>
          </a:p>
          <a:p>
            <a:pPr marL="0" indent="0">
              <a:lnSpc>
                <a:spcPct val="150000"/>
              </a:lnSpc>
              <a:buFont typeface="Arial" panose="020B0604020202020204"/>
              <a:buNone/>
              <a:defRPr>
                <a:solidFill/>
              </a:defRPr>
            </a:pPr>
            <a:r>
              <a:rPr kumimoji="1" lang="zh-CN" altLang="en-US" sz="2200" dirty="0">
                <a:solidFill/>
              </a:rPr>
              <a:t>Origin links to nearest neighbours across frames. Non-black points show t-patch subset, capturing temporal continuity.</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GradCAM Visualization</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Visualizing Motion Impact</a:t>
            </a:r>
            <a:endParaRPr kumimoji="1" lang="en-US" altLang="zh-CN" dirty="0"/>
          </a:p>
          <a:p>
            <a:pPr marL="0" indent="0">
              <a:lnSpc>
                <a:spcPct val="150000"/>
              </a:lnSpc>
              <a:buFont typeface="Arial" panose="020B0604020202020204"/>
              <a:buNone/>
              <a:defRPr>
                <a:solidFill/>
              </a:defRPr>
            </a:pPr>
            <a:r>
              <a:rPr kumimoji="1" lang="zh-CN" altLang="en-US" sz="2200" dirty="0">
                <a:solidFill/>
              </a:rPr>
              <a:t>Scores reflect influence. Heatmaps highlight informative motion, like hands during jumping jacks, proving effective learning.</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88dfa52f_IKEA_ASM_t-patches.png"/>
          <p:cNvPicPr>
            <a:picLocks noChangeAspect="1"/>
          </p:cNvPicPr>
          <p:nvPr/>
        </p:nvPicPr>
        <p:blipFill>
          <a:blip r:embed="rId2"/>
          <a:stretch>
            <a:fillRect/>
          </a:stretch>
        </p:blipFill>
        <p:spPr>
          <a:xfrm>
            <a:off x="5083176" y="1449728"/>
            <a:ext cx="7086600" cy="2510743"/>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Real-World Demo</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Semantic Color Coding</a:t>
            </a:r>
            <a:endParaRPr kumimoji="1" lang="en-US" altLang="zh-CN" dirty="0"/>
          </a:p>
          <a:p>
            <a:pPr marL="0" indent="0">
              <a:lnSpc>
                <a:spcPct val="150000"/>
              </a:lnSpc>
              <a:buFont typeface="Arial" panose="020B0604020202020204"/>
              <a:buNone/>
              <a:defRPr>
                <a:solidFill/>
              </a:defRPr>
            </a:pPr>
            <a:r>
              <a:rPr kumimoji="1" lang="zh-CN" altLang="en-US" sz="2200" dirty="0">
                <a:solidFill/>
              </a:rPr>
              <a:t>Top row: RGB images. Bottom: 3D point clouds. Blue marks dynamic bench, maroon marks arm, teal/green show static scene.</a:t>
            </a:r>
            <a:endParaRPr kumimoji="1" lang="en-US" altLang="zh-CN" sz="22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Paper Title: 3DInAction: Understanding Human Actions in 3D Point Clouds</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Authors: Ben-Shabat, Yizhak and Shrout, Oren and Gould, Stephen</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Publication: arXiv preprint arXiv:2303.06346, Year: 2023</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Source Reference</a:t>
            </a:r>
            <a:endParaRPr kumimoji="1" lang="zh-CN" altLang="en-US" dirty="0">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灯片编号占位符 1"/>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
        <p:nvSpPr>
          <p:cNvPr id="3" name="内容占位符 2"/>
          <p:cNvSpPr>
            <a:spLocks noGrp="1"/>
          </p:cNvSpPr>
          <p:nvPr>
            <p:ph sz="quarter" idx="13"/>
          </p:nvPr>
        </p:nvSpPr>
        <p:spPr/>
        <p:txBody>
          <a:bodyPr>
            <a:normAutofit/>
          </a:bodyPr>
          <a:lstStyle>
            <a:lvl1pPr>
              <a:defRPr>
                <a:solidFill/>
              </a:defRPr>
            </a:lvl1pPr>
          </a:lstStyle>
          <a:p>
            <a:pPr>
              <a:defRPr>
                <a:solidFill/>
              </a:defRPr>
            </a:pPr>
            <a:r>
              <a:rPr kumimoji="1" lang="zh-CN" altLang="en-US" sz="4800" dirty="0">
                <a:solidFill>
                  <a:schemeClr val="bg1"/>
                </a:solidFill>
              </a:rPr>
              <a:t>Thank You!</a:t>
            </a:r>
            <a:endParaRPr kumimoji="1" lang="zh-CN" altLang="en-US" sz="4800" dirty="0">
              <a:solidFill>
                <a:schemeClr val="bg1"/>
              </a:solidFill>
            </a:endParaRPr>
          </a:p>
        </p:txBody>
      </p:sp>
    </p:spTree>
  </p:cSld>
  <p:clrMapOvr>
    <a:masterClrMapping/>
  </p:clrMapOvr>
</p:sld>
</file>

<file path=ppt/theme/theme1.xml><?xml version="1.0" encoding="utf-8"?>
<a:theme xmlns:a="http://schemas.openxmlformats.org/drawingml/2006/main" name="CNIC">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2249</Words>
  <Application>WPS 演示</Application>
  <PresentationFormat>宽屏</PresentationFormat>
  <Paragraphs>56</Paragraphs>
  <Slides>10</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宋体</vt:lpstr>
      <vt:lpstr>Wingdings</vt:lpstr>
      <vt:lpstr>Arial</vt:lpstr>
      <vt:lpstr>黑体</vt:lpstr>
      <vt:lpstr>微软雅黑</vt:lpstr>
      <vt:lpstr>Comic Sans MS</vt:lpstr>
      <vt:lpstr>Calibri</vt:lpstr>
      <vt:lpstr>Arial Unicode MS</vt:lpstr>
      <vt:lpstr>等线</vt:lpstr>
      <vt:lpstr>CNIC</vt:lpstr>
      <vt:lpstr>PowerPoint 演示文稿</vt:lpstr>
      <vt:lpstr>What are Agents?</vt:lpstr>
      <vt:lpstr>When (and when not) to use Agents</vt:lpstr>
      <vt:lpstr>Common Frameworks for Agents</vt:lpstr>
      <vt:lpstr>Building Blocks and Workflows</vt:lpstr>
      <vt:lpstr>Agents in Practice</vt:lpstr>
      <vt:lpstr>Key Principles for Building Effective Agents</vt:lpstr>
      <vt:lpstr>LLM Interaction</vt:lpstr>
      <vt:lpstr>LLM Call Generator and Evaluator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吴炜</cp:lastModifiedBy>
  <cp:revision>35</cp:revision>
  <dcterms:created xsi:type="dcterms:W3CDTF">2026-04-30T11:51:00Z</dcterms:created>
  <dcterms:modified xsi:type="dcterms:W3CDTF">2026-04-30T11:53:04Z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4DA4DB001A1F41158937266F0B7928E7_12</vt:lpwstr>
  </property>
  <property fmtid="{D5CDD505-2E9C-101B-9397-08002B2CF9AE}" pid="3" name="KSOProductBuildVer">
    <vt:lpwstr>2052-12.1.0.25865</vt:lpwstr>
  </property>
</Properties>
</file>