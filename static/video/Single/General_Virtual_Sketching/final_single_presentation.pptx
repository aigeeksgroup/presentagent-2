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3"/>
  </p:notesMasterIdLst>
  <p:sldIdLst>
    <p:sldId id="256" r:id="rId8"/>
    <p:sldId id="257" r:id="rId9"/>
    <p:sldId id="258" r:id="rId10"/>
    <p:sldId id="259" r:id="rId11"/>
    <p:sldId id="260" r:id="rId12"/>
    <p:sldId id="261" r:id="rId7"/>
    <p:sldId id="262" r:id="rId6"/>
    <p:sldId id="263" r:id="rId5"/>
    <p:sldId id="264" r:id="rId4"/>
    <p:sldId id="265" r:id="rId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324BF8E4-71D8-5144-BD12-393016A0C3FF}">
          <p14:sldIdLst>
            <p14:sldId id="256"/>
            <p14:sldId id="257"/>
            <p14:sldId id="258"/>
            <p14:sldId id="259"/>
            <p14:sldId id="260"/>
            <p14:sldId id="261"/>
            <p14:sldId id="262"/>
            <p14:sldId id="263"/>
            <p14:sldId id="264"/>
            <p14:sldId id="265"/>
          </p14:sldIdLst>
        </p14:section>
      </p14:sectionLst>
    </p:ext>
    <p:ext uri="{EFAFB233-063F-42B5-8137-9DF3F51BA10A}">
      <p15:sldGuideLst xmlns:p15="http://schemas.microsoft.com/office/powerpoint/2012/main">
        <p15:guide id="1" orient="horz" pos="2364" userDrawn="1">
          <p15:clr>
            <a:srgbClr val="A4A3A4"/>
          </p15:clr>
        </p15:guide>
        <p15:guide id="2" pos="381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LIU JIA" initials="LJ" lastIdx="3" clrIdx="0"/>
  <p:cmAuthor id="2" name="Ludovic Liu" initials="LL" lastIdx="2" clrIdx="1"/>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886"/>
    <p:restoredTop sz="94607"/>
  </p:normalViewPr>
  <p:slideViewPr>
    <p:cSldViewPr showGuides="1">
      <p:cViewPr varScale="1">
        <p:scale>
          <a:sx n="91" d="100"/>
          <a:sy n="91" d="100"/>
        </p:scale>
        <p:origin x="224" y="888"/>
      </p:cViewPr>
      <p:guideLst>
        <p:guide orient="horz" pos="2364"/>
        <p:guide pos="3817"/>
      </p:guideLst>
    </p:cSldViewPr>
  </p:slideViewPr>
  <p:notesTextViewPr>
    <p:cViewPr>
      <p:scale>
        <a:sx n="1" d="1"/>
        <a:sy n="1" d="1"/>
      </p:scale>
      <p:origin x="0" y="0"/>
    </p:cViewPr>
  </p:notesTextViewPr>
  <p:notesViewPr>
    <p:cSldViewPr>
      <p:cViewPr varScale="1">
        <p:scale>
          <a:sx n="66" d="100"/>
          <a:sy n="66" d="100"/>
        </p:scale>
        <p:origin x="0" y="0"/>
      </p:cViewPr>
      <p:guideLst/>
    </p:cSldViewPr>
  </p:notesViewPr>
  <p:gridSpacing cx="45005" cy="45005"/>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 Target="slides/slide10.xml"/><Relationship Id="rId4" Type="http://schemas.openxmlformats.org/officeDocument/2006/relationships/slide" Target="slides/slide9.xml"/><Relationship Id="rId5" Type="http://schemas.openxmlformats.org/officeDocument/2006/relationships/slide" Target="slides/slide8.xml"/><Relationship Id="rId6" Type="http://schemas.openxmlformats.org/officeDocument/2006/relationships/slide" Target="slides/slide7.xml"/><Relationship Id="rId7" Type="http://schemas.openxmlformats.org/officeDocument/2006/relationships/slide" Target="slides/slide6.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ableStyles" Target="tableStyles.xml"/><Relationship Id="rId17"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8798786-8DB6-F04C-9F57-77556B8E1BF3}"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593EE2F-51E3-E245-8187-288F33EED691}"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Today I'll walk you through the core objectives of this project. We will explore foundational strategies designed to enhance operational efficiency and drive meaningful results across the team. This session aims to align our clear understanding of upcoming changes and ensure everyone is fully equipped for success while reviewing key project milestones and addressing potential challenges early on to mitigate risks effectively. Please feel free to interrupt me if you have any questions.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introduces our virtual sketching framework, bridging the gap between raster images and editable vector formats. As shown in the diagram, the system processes diverse inputs like rough sketches or photographs to generate structured stroke ordering and refined vector paths. The core mechanism is iterative refinement, evolving initial points into detailed features while correcting strokes over time. This ensures smooth line art generation across various subjects, from human faces to rockets, proving the framework's versatility in handling complex outlines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framework employs a Convolutional Neural Network encoder to process visual features, paired with a Recurrent Neural Network decoder for sequential stroke generation. Unlike single-pass methods, the system progressively refines the canvas over time, as seen in the animations. Starting from rough points, it iteratively adds detail while maintaining temporal consistency. This ensures complex features like facial contours are accurately traced, enabling high-quality vector line art. Combining spatial interpretation with sequential output, it produces smooth sketches that evolve naturally rather than appearing instantly, handling diverse inputs.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examine this animated sequence demonstrating our progressive refinement mechanism. Instead of generating final line art immediately, the system starts with a single point that iteratively evolves into detailed facial features. You can see how rough outlines transform into smooth vector lines through iterative stroke correction. This approach ensures geometric accuracy by focusing on key feature extraction. By tracing specific points over time, we maintain structural integrity across different source materials. This gradual construction allows for precise detail enhancement where it matters most.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Observe this rocket sketch transforming from a rough outline into clean vector line art. Red boxes highlight areas like the nose cone undergoing iterative detail enhancement. This approach builds complex structures gradually, ensuring precise stroke ordering. By managing feature extraction this way, the system maintains structural consistency even when starting from varying levels of initial detail. This demonstrates the model's ability to handle diverse inputs while producing accurate, simplified drawings. Progressive refinement ensures corrective adjustments remain possible throughout the stroke generation phase.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Focus on the penguin animation demonstrating our progressive refinement mechanism. The process begins with coarse markers, specifically a rough dot-based outline, before evolving into clean, smooth line art. Notice how the system iteratively corrects strokes to manage complex structures effectively. This ensures accurate feature extraction while maintaining artistic intent throughout the transformation. By bridging the gap between rough inputs and simplified drawings, the framework guarantees consistent outline refinement. Ultimately, this iterative tracing allows coherent reconstruction from initial sketches to polished vector outputs seamlessly.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observe the vectorization sequence of a woman's portrait transforming from a pixelated photo into a simplified line drawing. Notice the red bounding boxes highlighting key feature points like the eyes and nose as they are traced. This demonstrates our framework's ability to extract specific structural elements accurately rather than simply filtering pixels. Unlike instant conversion, the system uses iterative refinement to mimic natural human drawing sequences. This ensures the final vector art maintains logical construction while preserving critical details throughout the entire processing timeline.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see the vectorization sequence of a man's portrait, transforming from a pixelated photo into a simplified line drawing. Notice the red markers indicating key feature points being traced and refined over time. This demonstrates our progressive refinement process, where structural analysis ensures facial feature extraction occurs logically rather than instantly. By managing stroke ordering, the system preserves semantic structure even with complex subjects. This approach guarantees high accuracy in outline refinement, turning rough inputs into clean vector art while maintaining structural integrity throughout the conversion.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you see the final output of our framework, a stylized black-and-white line drawing of a male face. This demonstrates our progressive vectorization process, transforming rough inputs into clean art through iterative refinement. Notice how the system moves from initial points to full facial features, ensuring smooth transitions from abstract sketches to precise vectors. By using visual markers and stroke correction, we maintain structural integrity while converting pixelated photos into professional-grade vector art. This capability ensures consistent quality across diverse subjects like faces and objects.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time and attention today. We have covered significant ground, exploring core functionalities and layout structures that drive effective presentation design. I hope this overview provided actionable insights into optimizing your own slides for clarity and impact. Remember that the best designs always serve the audience's understanding first. I am now happy to open the floor for any questions you might have regarding the material we discussed or how to apply these principles in your future work.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13" name="内容占位符 12"/>
          <p:cNvSpPr>
            <a:spLocks noGrp="1"/>
          </p:cNvSpPr>
          <p:nvPr>
            <p:ph sz="quarter" idx="13" hasCustomPrompt="1"/>
          </p:nvPr>
        </p:nvSpPr>
        <p:spPr>
          <a:xfrm>
            <a:off x="0" y="1716629"/>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
        <p:nvSpPr>
          <p:cNvPr id="2" name="标题 1"/>
          <p:cNvSpPr>
            <a:spLocks noGrp="1"/>
          </p:cNvSpPr>
          <p:nvPr>
            <p:ph type="title"/>
          </p:nvPr>
        </p:nvSpPr>
        <p:spPr>
          <a:xfrm>
            <a:off x="-1" y="3575188"/>
            <a:ext cx="12192001" cy="1143000"/>
          </a:xfrm>
        </p:spPr>
        <p:txBody>
          <a:bodyPr/>
          <a:lstStyle>
            <a:lvl1pPr>
              <a:defRPr b="1">
                <a:solidFill>
                  <a:srgbClr val="194297"/>
                </a:solidFill>
                <a:latin typeface="黑体" panose="02010609060101010101" pitchFamily="49" charset="-122"/>
                <a:ea typeface="黑体" panose="02010609060101010101" pitchFamily="49" charset="-122"/>
              </a:defRPr>
            </a:lvl1pPr>
          </a:lstStyle>
          <a:p>
            <a:r>
              <a:rPr kumimoji="1" lang="zh-CN" altLang="en-US" dirty="0"/>
              <a:t>单击此处编辑母版标题样式</a:t>
            </a:r>
            <a:endParaRPr kumimoji="1" lang="zh-CN" altLang="en-US" dirty="0"/>
          </a:p>
        </p:txBody>
      </p:sp>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defRPr sz="2400">
                <a:solidFill>
                  <a:schemeClr val="tx1"/>
                </a:solidFill>
                <a:latin typeface="微软雅黑" panose="020B0503020204020204" pitchFamily="34" charset="-122"/>
                <a:ea typeface="微软雅黑" panose="020B0503020204020204" pitchFamily="34" charset="-122"/>
              </a:defRPr>
            </a:lvl1pPr>
            <a:lvl2pPr>
              <a:defRPr sz="2000">
                <a:solidFill>
                  <a:schemeClr val="tx1"/>
                </a:solidFill>
                <a:latin typeface="微软雅黑" panose="020B0503020204020204" pitchFamily="34" charset="-122"/>
                <a:ea typeface="微软雅黑" panose="020B0503020204020204" pitchFamily="34" charset="-122"/>
              </a:defRPr>
            </a:lvl2pPr>
            <a:lvl3pPr>
              <a:defRPr sz="2000">
                <a:solidFill>
                  <a:schemeClr val="tx1"/>
                </a:solidFill>
                <a:latin typeface="微软雅黑" panose="020B0503020204020204" pitchFamily="34" charset="-122"/>
                <a:ea typeface="微软雅黑" panose="020B0503020204020204" pitchFamily="34" charset="-122"/>
              </a:defRPr>
            </a:lvl3pPr>
            <a:lvl4pPr>
              <a:defRPr sz="2000">
                <a:solidFill>
                  <a:schemeClr val="tx1"/>
                </a:solidFill>
                <a:latin typeface="微软雅黑" panose="020B0503020204020204" pitchFamily="34" charset="-122"/>
                <a:ea typeface="微软雅黑" panose="020B0503020204020204" pitchFamily="34" charset="-122"/>
              </a:defRPr>
            </a:lvl4pPr>
            <a:lvl5pPr>
              <a:defRPr sz="2000">
                <a:solidFill>
                  <a:schemeClr val="tx1"/>
                </a:solidFill>
                <a:latin typeface="微软雅黑" panose="020B0503020204020204" pitchFamily="34" charset="-122"/>
                <a:ea typeface="微软雅黑" panose="020B0503020204020204" pitchFamily="34" charset="-122"/>
              </a:defRPr>
            </a:lvl5pPr>
          </a:lstStyle>
          <a:p>
            <a:pPr lvl="0"/>
            <a:r>
              <a:rPr kumimoji="1" lang="zh-CN" altLang="en-US" dirty="0"/>
              <a:t>编辑母版文本样式</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B3551FA5-A072-C74F-B9AC-F2D758607E96}" type="datetime1">
              <a:rPr kumimoji="1" lang="zh-CN" altLang="en-US" smtClean="0"/>
            </a:fld>
            <a:endParaRPr kumimoji="1" lang="zh-CN" altLang="en-US"/>
          </a:p>
        </p:txBody>
      </p:sp>
      <p:sp>
        <p:nvSpPr>
          <p:cNvPr id="4" name="页脚占位符 3"/>
          <p:cNvSpPr>
            <a:spLocks noGrp="1"/>
          </p:cNvSpPr>
          <p:nvPr>
            <p:ph type="ftr" sz="quarter" idx="11"/>
          </p:nvPr>
        </p:nvSpPr>
        <p:spPr/>
        <p:txBody>
          <a:bodyPr/>
          <a:lstStyle/>
          <a:p>
            <a:endParaRPr kumimoji="1" lang="zh-CN" altLang="en-US"/>
          </a:p>
        </p:txBody>
      </p:sp>
      <p:sp>
        <p:nvSpPr>
          <p:cNvPr id="5" name="灯片编号占位符 4"/>
          <p:cNvSpPr>
            <a:spLocks noGrp="1"/>
          </p:cNvSpPr>
          <p:nvPr>
            <p:ph type="sldNum" sz="quarter" idx="12"/>
          </p:nvPr>
        </p:nvSpPr>
        <p:spPr/>
        <p:txBody>
          <a:bodyPr/>
          <a:lstStyle/>
          <a:p>
            <a:fld id="{184837EA-8E75-5C46-B6C5-33E17701B5D3}" type="slidenum">
              <a:rPr kumimoji="1" lang="zh-CN" altLang="en-US" smtClean="0"/>
            </a:fld>
            <a:endParaRPr kumimoji="1" lang="zh-CN" altLang="en-US"/>
          </a:p>
        </p:txBody>
      </p:sp>
      <p:sp>
        <p:nvSpPr>
          <p:cNvPr id="13" name="内容占位符 12"/>
          <p:cNvSpPr>
            <a:spLocks noGrp="1"/>
          </p:cNvSpPr>
          <p:nvPr>
            <p:ph sz="quarter" idx="13" hasCustomPrompt="1"/>
          </p:nvPr>
        </p:nvSpPr>
        <p:spPr>
          <a:xfrm>
            <a:off x="0" y="2422527"/>
            <a:ext cx="12192001" cy="1610767"/>
          </a:xfrm>
          <a:solidFill>
            <a:srgbClr val="375AA4"/>
          </a:solidFill>
        </p:spPr>
        <p:txBody>
          <a:bodyPr anchor="ctr">
            <a:normAutofit/>
          </a:bodyPr>
          <a:lstStyle>
            <a:lvl1pPr marL="0" indent="0" algn="ctr">
              <a:buNone/>
              <a:defRPr sz="2800">
                <a:latin typeface="黑体" panose="02010609060101010101" pitchFamily="49" charset="-122"/>
                <a:ea typeface="黑体" panose="02010609060101010101" pitchFamily="49" charset="-122"/>
              </a:defRPr>
            </a:lvl1pPr>
          </a:lstStyle>
          <a:p>
            <a:r>
              <a:rPr kumimoji="1" lang="zh-CN" altLang="en-US" sz="2400" dirty="0">
                <a:solidFill>
                  <a:schemeClr val="bg1"/>
                </a:solidFill>
              </a:rPr>
              <a:t>单击此处编辑母版标题样式</a:t>
            </a:r>
            <a:endParaRPr kumimoji="1" lang="zh-CN" altLang="en-US" sz="2400" dirty="0">
              <a:solidFill>
                <a:schemeClr val="bg1"/>
              </a:solidFill>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内容页">
    <p:spTree>
      <p:nvGrpSpPr>
        <p:cNvPr id="1" name=""/>
        <p:cNvGrpSpPr/>
        <p:nvPr/>
      </p:nvGrpSpPr>
      <p:grpSpPr>
        <a:xfrm>
          <a:off x="0" y="0"/>
          <a:ext cx="0" cy="0"/>
          <a:chOff x="0" y="0"/>
          <a:chExt cx="0" cy="0"/>
        </a:xfrm>
      </p:grpSpPr>
      <p:sp>
        <p:nvSpPr>
          <p:cNvPr id="3" name="内容占位符 2"/>
          <p:cNvSpPr>
            <a:spLocks noGrp="1"/>
          </p:cNvSpPr>
          <p:nvPr>
            <p:ph idx="1" hasCustomPrompt="1"/>
          </p:nvPr>
        </p:nvSpPr>
        <p:spPr>
          <a:xfrm>
            <a:off x="361492" y="1051562"/>
            <a:ext cx="11469016" cy="5413406"/>
          </a:xfrm>
        </p:spPr>
        <p:txBody>
          <a:bodyPr>
            <a:normAutofit/>
          </a:bodyPr>
          <a:lstStyle>
            <a:lvl1pPr>
              <a:lnSpc>
                <a:spcPct val="130000"/>
              </a:lnSpc>
              <a:defRPr sz="2800">
                <a:solidFill>
                  <a:schemeClr val="tx1"/>
                </a:solidFill>
                <a:latin typeface="Comic Sans MS" panose="030F0702030302020204" pitchFamily="66" charset="0"/>
                <a:ea typeface="微软雅黑" panose="020B0503020204020204" pitchFamily="34" charset="-122"/>
              </a:defRPr>
            </a:lvl1pPr>
            <a:lvl2pPr>
              <a:lnSpc>
                <a:spcPct val="130000"/>
              </a:lnSpc>
              <a:defRPr sz="2400">
                <a:solidFill>
                  <a:schemeClr val="tx1"/>
                </a:solidFill>
                <a:latin typeface="Comic Sans MS" panose="030F0702030302020204" pitchFamily="66" charset="0"/>
                <a:ea typeface="微软雅黑" panose="020B0503020204020204" pitchFamily="34" charset="-122"/>
              </a:defRPr>
            </a:lvl2pPr>
            <a:lvl3pPr>
              <a:lnSpc>
                <a:spcPct val="130000"/>
              </a:lnSpc>
              <a:defRPr sz="2400">
                <a:solidFill>
                  <a:schemeClr val="tx1"/>
                </a:solidFill>
                <a:latin typeface="Comic Sans MS" panose="030F0702030302020204" pitchFamily="66" charset="0"/>
                <a:ea typeface="微软雅黑" panose="020B0503020204020204" pitchFamily="34" charset="-122"/>
              </a:defRPr>
            </a:lvl3pPr>
            <a:lvl4pPr>
              <a:lnSpc>
                <a:spcPct val="130000"/>
              </a:lnSpc>
              <a:defRPr sz="2400">
                <a:solidFill>
                  <a:schemeClr val="tx1"/>
                </a:solidFill>
                <a:latin typeface="Comic Sans MS" panose="030F0702030302020204" pitchFamily="66" charset="0"/>
                <a:ea typeface="微软雅黑" panose="020B0503020204020204" pitchFamily="34" charset="-122"/>
              </a:defRPr>
            </a:lvl4pPr>
            <a:lvl5pPr>
              <a:lnSpc>
                <a:spcPct val="130000"/>
              </a:lnSpc>
              <a:defRPr sz="2400">
                <a:solidFill>
                  <a:schemeClr val="tx1"/>
                </a:solidFill>
                <a:latin typeface="Comic Sans MS" panose="030F0702030302020204" pitchFamily="66" charset="0"/>
                <a:ea typeface="微软雅黑" panose="020B0503020204020204" pitchFamily="34" charset="-122"/>
              </a:defRPr>
            </a:lvl5pPr>
          </a:lstStyle>
          <a:p>
            <a:pPr lvl="0"/>
            <a:r>
              <a:rPr kumimoji="1" lang="en-US" altLang="zh-CN" dirty="0"/>
              <a:t>Headline</a:t>
            </a:r>
            <a:endParaRPr kumimoji="1" lang="zh-CN" altLang="en-US" dirty="0"/>
          </a:p>
          <a:p>
            <a:pPr lvl="1"/>
            <a:r>
              <a:rPr kumimoji="1" lang="zh-CN" altLang="en-US" dirty="0"/>
              <a:t>第二级</a:t>
            </a:r>
            <a:endParaRPr kumimoji="1" lang="zh-CN" altLang="en-US" dirty="0"/>
          </a:p>
          <a:p>
            <a:pPr lvl="2"/>
            <a:r>
              <a:rPr kumimoji="1" lang="zh-CN" altLang="en-US" dirty="0"/>
              <a:t>第三级</a:t>
            </a:r>
            <a:endParaRPr kumimoji="1" lang="zh-CN" altLang="en-US" dirty="0"/>
          </a:p>
          <a:p>
            <a:pPr lvl="3"/>
            <a:r>
              <a:rPr kumimoji="1" lang="zh-CN" altLang="en-US" dirty="0"/>
              <a:t>第四级</a:t>
            </a:r>
            <a:endParaRPr kumimoji="1" lang="zh-CN" altLang="en-US" dirty="0"/>
          </a:p>
          <a:p>
            <a:pPr lvl="4"/>
            <a:r>
              <a:rPr kumimoji="1" lang="zh-CN" altLang="en-US" dirty="0"/>
              <a:t>第五级</a:t>
            </a:r>
            <a:endParaRPr kumimoji="1" lang="zh-CN" altLang="en-US" dirty="0"/>
          </a:p>
        </p:txBody>
      </p:sp>
      <p:cxnSp>
        <p:nvCxnSpPr>
          <p:cNvPr id="10" name="直接连接符 2"/>
          <p:cNvCxnSpPr/>
          <p:nvPr userDrawn="1"/>
        </p:nvCxnSpPr>
        <p:spPr>
          <a:xfrm>
            <a:off x="361492" y="879000"/>
            <a:ext cx="11469016" cy="0"/>
          </a:xfrm>
          <a:prstGeom prst="line">
            <a:avLst/>
          </a:prstGeom>
          <a:ln w="28575">
            <a:solidFill>
              <a:srgbClr val="385AA4"/>
            </a:solidFill>
          </a:ln>
        </p:spPr>
        <p:style>
          <a:lnRef idx="1">
            <a:schemeClr val="accent1"/>
          </a:lnRef>
          <a:fillRef idx="0">
            <a:schemeClr val="accent1"/>
          </a:fillRef>
          <a:effectRef idx="0">
            <a:schemeClr val="accent1"/>
          </a:effectRef>
          <a:fontRef idx="minor">
            <a:schemeClr val="tx1"/>
          </a:fontRef>
        </p:style>
      </p:cxnSp>
      <p:sp>
        <p:nvSpPr>
          <p:cNvPr id="14" name="椭圆 13"/>
          <p:cNvSpPr/>
          <p:nvPr userDrawn="1"/>
        </p:nvSpPr>
        <p:spPr>
          <a:xfrm>
            <a:off x="11686448" y="6499065"/>
            <a:ext cx="288121" cy="288121"/>
          </a:xfrm>
          <a:prstGeom prst="ellipse">
            <a:avLst/>
          </a:prstGeom>
          <a:solidFill>
            <a:schemeClr val="tx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kumimoji="1" lang="zh-CN" altLang="en-US"/>
          </a:p>
        </p:txBody>
      </p:sp>
      <p:sp>
        <p:nvSpPr>
          <p:cNvPr id="13" name="文本框 12"/>
          <p:cNvSpPr txBox="1"/>
          <p:nvPr userDrawn="1"/>
        </p:nvSpPr>
        <p:spPr>
          <a:xfrm>
            <a:off x="11675815" y="6467540"/>
            <a:ext cx="307910" cy="340912"/>
          </a:xfrm>
          <a:prstGeom prst="rect">
            <a:avLst/>
          </a:prstGeom>
          <a:noFill/>
        </p:spPr>
        <p:txBody>
          <a:bodyPr wrap="none" rtlCol="0">
            <a:noAutofit/>
          </a:bodyPr>
          <a:lstStyle/>
          <a:p>
            <a:pPr algn="ctr"/>
            <a:fld id="{A3F35204-DFFB-A947-BE2B-25CB3E0633F6}" type="slidenum">
              <a:rPr kumimoji="1" lang="zh-CN" altLang="en-US" sz="1600" smtClean="0">
                <a:solidFill>
                  <a:schemeClr val="bg1"/>
                </a:solidFill>
                <a:latin typeface="Arial" panose="020B0604020202020204" pitchFamily="34" charset="0"/>
                <a:cs typeface="Arial" panose="020B0604020202020204" pitchFamily="34" charset="0"/>
              </a:rPr>
            </a:fld>
            <a:endParaRPr kumimoji="1" lang="zh-CN" altLang="en-US" sz="1600" dirty="0">
              <a:solidFill>
                <a:schemeClr val="bg1"/>
              </a:solidFill>
              <a:latin typeface="Arial" panose="020B0604020202020204" pitchFamily="34" charset="0"/>
              <a:cs typeface="Arial" panose="020B0604020202020204" pitchFamily="34" charset="0"/>
            </a:endParaRPr>
          </a:p>
        </p:txBody>
      </p:sp>
      <p:sp>
        <p:nvSpPr>
          <p:cNvPr id="21" name="标题 20"/>
          <p:cNvSpPr>
            <a:spLocks noGrp="1"/>
          </p:cNvSpPr>
          <p:nvPr>
            <p:ph type="title"/>
          </p:nvPr>
        </p:nvSpPr>
        <p:spPr>
          <a:xfrm>
            <a:off x="361492" y="146627"/>
            <a:ext cx="10972800" cy="774447"/>
          </a:xfrm>
        </p:spPr>
        <p:txBody>
          <a:bodyPr>
            <a:normAutofit/>
          </a:bodyPr>
          <a:lstStyle>
            <a:lvl1pPr algn="l">
              <a:defRPr sz="3200" b="1">
                <a:solidFill>
                  <a:srgbClr val="194297"/>
                </a:solidFill>
                <a:latin typeface="微软雅黑" panose="020B0503020204020204" pitchFamily="34" charset="-122"/>
                <a:ea typeface="微软雅黑" panose="020B0503020204020204" pitchFamily="34" charset="-122"/>
              </a:defRPr>
            </a:lvl1pPr>
          </a:lstStyle>
          <a:p>
            <a:r>
              <a:rPr kumimoji="1" lang="zh-CN" altLang="en-US" dirty="0"/>
              <a:t>单击此处编辑母版标题样式</a:t>
            </a:r>
            <a:endParaRPr kumimoji="1"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lt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09600" y="274639"/>
            <a:ext cx="10972800" cy="1143000"/>
          </a:xfrm>
          <a:prstGeom prst="rect">
            <a:avLst/>
          </a:prstGeom>
        </p:spPr>
        <p:txBody>
          <a:bodyPr vert="horz" lIns="91440" tIns="45720" rIns="91440" bIns="45720" rtlCol="0" anchor="ctr">
            <a:normAutofit/>
          </a:bodyPr>
          <a:lstStyle/>
          <a:p>
            <a:r>
              <a:rPr kumimoji="1" lang="zh-CN" altLang="en-US"/>
              <a:t>单击此处编辑母版标题样式</a:t>
            </a:r>
            <a:endParaRPr kumimoji="1" lang="zh-CN" altLang="en-US"/>
          </a:p>
        </p:txBody>
      </p:sp>
      <p:sp>
        <p:nvSpPr>
          <p:cNvPr id="3" name="文本占位符 2"/>
          <p:cNvSpPr>
            <a:spLocks noGrp="1"/>
          </p:cNvSpPr>
          <p:nvPr>
            <p:ph type="body" idx="1"/>
          </p:nvPr>
        </p:nvSpPr>
        <p:spPr>
          <a:xfrm>
            <a:off x="609600" y="1600204"/>
            <a:ext cx="10972800" cy="4525963"/>
          </a:xfrm>
          <a:prstGeom prst="rect">
            <a:avLst/>
          </a:prstGeom>
        </p:spPr>
        <p:txBody>
          <a:bodyPr vert="horz" lIns="91440" tIns="45720" rIns="91440" bIns="45720" rtlCol="0">
            <a:normAutofit/>
          </a:body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4" name="日期占位符 3"/>
          <p:cNvSpPr>
            <a:spLocks noGrp="1"/>
          </p:cNvSpPr>
          <p:nvPr>
            <p:ph type="dt" sz="half" idx="2"/>
          </p:nvPr>
        </p:nvSpPr>
        <p:spPr>
          <a:xfrm>
            <a:off x="596912" y="6657628"/>
            <a:ext cx="2844800" cy="200375"/>
          </a:xfrm>
          <a:prstGeom prst="rect">
            <a:avLst/>
          </a:prstGeom>
        </p:spPr>
        <p:txBody>
          <a:bodyPr vert="horz" lIns="91440" tIns="45720" rIns="91440" bIns="45720" rtlCol="0" anchor="ctr"/>
          <a:lstStyle>
            <a:lvl1pPr algn="l">
              <a:defRPr sz="900">
                <a:solidFill>
                  <a:schemeClr val="bg1"/>
                </a:solidFill>
              </a:defRPr>
            </a:lvl1pPr>
          </a:lstStyle>
          <a:p>
            <a:fld id="{B3551FA5-A072-C74F-B9AC-F2D758607E96}" type="datetime1">
              <a:rPr kumimoji="1" lang="zh-CN" altLang="en-US" smtClean="0"/>
            </a:fld>
            <a:endParaRPr kumimoji="1" lang="zh-CN" altLang="en-US"/>
          </a:p>
        </p:txBody>
      </p:sp>
      <p:sp>
        <p:nvSpPr>
          <p:cNvPr id="5" name="页脚占位符 4"/>
          <p:cNvSpPr>
            <a:spLocks noGrp="1"/>
          </p:cNvSpPr>
          <p:nvPr>
            <p:ph type="ftr" sz="quarter" idx="3"/>
          </p:nvPr>
        </p:nvSpPr>
        <p:spPr>
          <a:xfrm>
            <a:off x="4271797" y="6657628"/>
            <a:ext cx="3860800" cy="173739"/>
          </a:xfrm>
          <a:prstGeom prst="rect">
            <a:avLst/>
          </a:prstGeom>
        </p:spPr>
        <p:txBody>
          <a:bodyPr vert="horz" lIns="91440" tIns="45720" rIns="91440" bIns="45720" rtlCol="0" anchor="ctr"/>
          <a:lstStyle>
            <a:lvl1pPr algn="ctr">
              <a:defRPr sz="900">
                <a:solidFill>
                  <a:schemeClr val="bg1"/>
                </a:solidFill>
              </a:defRPr>
            </a:lvl1pPr>
          </a:lstStyle>
          <a:p>
            <a:endParaRPr kumimoji="1" lang="zh-CN" altLang="en-US"/>
          </a:p>
        </p:txBody>
      </p:sp>
      <p:sp>
        <p:nvSpPr>
          <p:cNvPr id="6" name="幻灯片编号占位符 5"/>
          <p:cNvSpPr>
            <a:spLocks noGrp="1"/>
          </p:cNvSpPr>
          <p:nvPr>
            <p:ph type="sldNum" sz="quarter" idx="4"/>
          </p:nvPr>
        </p:nvSpPr>
        <p:spPr>
          <a:xfrm>
            <a:off x="8748272" y="6657625"/>
            <a:ext cx="2844800" cy="182562"/>
          </a:xfrm>
          <a:prstGeom prst="rect">
            <a:avLst/>
          </a:prstGeom>
        </p:spPr>
        <p:txBody>
          <a:bodyPr vert="horz" lIns="91440" tIns="45720" rIns="91440" bIns="45720" rtlCol="0" anchor="ctr"/>
          <a:lstStyle>
            <a:lvl1pPr algn="r">
              <a:defRPr sz="900">
                <a:solidFill>
                  <a:schemeClr val="bg1"/>
                </a:solidFill>
              </a:defRPr>
            </a:lvl1pPr>
          </a:lstStyle>
          <a:p>
            <a:fld id="{184837EA-8E75-5C46-B6C5-33E17701B5D3}"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hdr="0" ftr="0" dt="0"/>
  <p:txStyles>
    <p:titleStyle>
      <a:lvl1pPr algn="ctr" defTabSz="342900" rtl="0" eaLnBrk="1" latinLnBrk="0" hangingPunct="1">
        <a:spcBef>
          <a:spcPct val="0"/>
        </a:spcBef>
        <a:buNone/>
        <a:defRPr sz="3300" kern="1200">
          <a:solidFill>
            <a:schemeClr val="tx1"/>
          </a:solidFill>
          <a:latin typeface="+mj-lt"/>
          <a:ea typeface="+mj-ea"/>
          <a:cs typeface="+mj-cs"/>
        </a:defRPr>
      </a:lvl1pPr>
    </p:titleStyle>
    <p:bodyStyle>
      <a:lvl1pPr marL="257175" indent="-257175" algn="l" defTabSz="342900" rtl="0" eaLnBrk="1" latinLnBrk="0" hangingPunct="1">
        <a:spcBef>
          <a:spcPct val="20000"/>
        </a:spcBef>
        <a:buFont typeface="Arial" panose="020B0604020202020204"/>
        <a:buChar char="•"/>
        <a:defRPr sz="2400" kern="1200">
          <a:solidFill>
            <a:schemeClr val="tx1"/>
          </a:solidFill>
          <a:latin typeface="+mn-lt"/>
          <a:ea typeface="+mn-ea"/>
          <a:cs typeface="+mn-cs"/>
        </a:defRPr>
      </a:lvl1pPr>
      <a:lvl2pPr marL="557530" indent="-214630" algn="l" defTabSz="342900" rtl="0" eaLnBrk="1" latinLnBrk="0" hangingPunct="1">
        <a:spcBef>
          <a:spcPct val="20000"/>
        </a:spcBef>
        <a:buFont typeface="Arial" panose="020B0604020202020204"/>
        <a:buChar char="–"/>
        <a:defRPr sz="2100" kern="1200">
          <a:solidFill>
            <a:schemeClr val="tx1"/>
          </a:solidFill>
          <a:latin typeface="+mn-lt"/>
          <a:ea typeface="+mn-ea"/>
          <a:cs typeface="+mn-cs"/>
        </a:defRPr>
      </a:lvl2pPr>
      <a:lvl3pPr marL="857250" indent="-171450" algn="l" defTabSz="342900" rtl="0" eaLnBrk="1" latinLnBrk="0" hangingPunct="1">
        <a:spcBef>
          <a:spcPct val="20000"/>
        </a:spcBef>
        <a:buFont typeface="Arial" panose="020B0604020202020204"/>
        <a:buChar char="•"/>
        <a:defRPr sz="1800" kern="1200">
          <a:solidFill>
            <a:schemeClr val="tx1"/>
          </a:solidFill>
          <a:latin typeface="+mn-lt"/>
          <a:ea typeface="+mn-ea"/>
          <a:cs typeface="+mn-cs"/>
        </a:defRPr>
      </a:lvl3pPr>
      <a:lvl4pPr marL="12001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4pPr>
      <a:lvl5pPr marL="15430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p:bodyStyle>
    <p:otherStyle>
      <a:defPPr>
        <a:defRPr lang="zh-CN"/>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1.mp4"/><Relationship Id="rId3" Type="http://schemas.openxmlformats.org/officeDocument/2006/relationships/video" Target="../media/media1.mp4"/><Relationship Id="rId4" Type="http://schemas.openxmlformats.org/officeDocument/2006/relationships/image" Target="../media/image3.png"/><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2.mp4"/><Relationship Id="rId3" Type="http://schemas.openxmlformats.org/officeDocument/2006/relationships/video" Target="../media/media2.mp4"/><Relationship Id="rId4" Type="http://schemas.openxmlformats.org/officeDocument/2006/relationships/image" Target="../media/image3.png"/><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3.mp4"/><Relationship Id="rId3" Type="http://schemas.openxmlformats.org/officeDocument/2006/relationships/video" Target="../media/media3.mp4"/><Relationship Id="rId4" Type="http://schemas.openxmlformats.org/officeDocument/2006/relationships/image" Target="../media/image3.png"/><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4.mp4"/><Relationship Id="rId3" Type="http://schemas.openxmlformats.org/officeDocument/2006/relationships/video" Target="../media/media4.mp4"/><Relationship Id="rId4" Type="http://schemas.openxmlformats.org/officeDocument/2006/relationships/image" Target="../media/image3.png"/><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3.png"/><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4.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内容占位符 1"/>
          <p:cNvSpPr>
            <a:spLocks noGrp="1"/>
          </p:cNvSpPr>
          <p:nvPr>
            <p:ph sz="quarter" idx="13"/>
          </p:nvPr>
        </p:nvSpPr>
        <p:spPr/>
        <p:txBody>
          <a:bodyPr>
            <a:normAutofit/>
          </a:bodyPr>
          <a:lstStyle>
            <a:lvl1pPr>
              <a:defRPr>
                <a:solidFill/>
              </a:defRPr>
            </a:lvl1pPr>
          </a:lstStyle>
          <a:p>
            <a:pPr>
              <a:defRPr>
                <a:solidFill/>
              </a:defRPr>
            </a:pPr>
            <a:r>
              <a:rPr kumimoji="1" lang="en-US" altLang="zh-CN" sz="4000" dirty="0">
                <a:solidFill>
                  <a:schemeClr val="bg1"/>
                </a:solidFill>
                <a:latin typeface="微软雅黑" panose="020B0503020204020204" pitchFamily="34" charset="-122"/>
                <a:ea typeface="微软雅黑" panose="020B0503020204020204" pitchFamily="34" charset="-122"/>
              </a:rPr>
              <a:t>Virtual Sketch Framework</a:t>
            </a:r>
            <a:endParaRPr kumimoji="1" lang="en-US" altLang="zh-CN" sz="4000" dirty="0">
              <a:solidFill>
                <a:schemeClr val="bg1"/>
              </a:solidFill>
              <a:latin typeface="微软雅黑" panose="020B0503020204020204" pitchFamily="34" charset="-122"/>
              <a:ea typeface="微软雅黑" panose="020B0503020204020204" pitchFamily="34" charset="-122"/>
            </a:endParaRPr>
          </a:p>
        </p:txBody>
      </p:sp>
      <p:sp>
        <p:nvSpPr>
          <p:cNvPr id="4" name="灯片编号占位符 3"/>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5a5a1ef4_teaser6.png"/>
          <p:cNvPicPr>
            <a:picLocks noChangeAspect="1"/>
          </p:cNvPicPr>
          <p:nvPr/>
        </p:nvPicPr>
        <p:blipFill>
          <a:blip r:embed="rId2"/>
          <a:stretch>
            <a:fillRect/>
          </a:stretch>
        </p:blipFill>
        <p:spPr>
          <a:xfrm>
            <a:off x="5083176" y="1013350"/>
            <a:ext cx="7086600" cy="3383499"/>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Virtual Sketch</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Vectorization Process</a:t>
            </a:r>
            <a:endParaRPr kumimoji="1" lang="en-US" altLang="zh-CN" dirty="0"/>
          </a:p>
          <a:p>
            <a:pPr marL="0" indent="0">
              <a:lnSpc>
                <a:spcPct val="150000"/>
              </a:lnSpc>
              <a:buFont typeface="Arial" panose="020B0604020202020204"/>
              <a:buNone/>
              <a:defRPr>
                <a:solidFill/>
              </a:defRPr>
            </a:pPr>
            <a:r>
              <a:rPr kumimoji="1" lang="zh-CN" altLang="en-US" sz="2200" dirty="0">
                <a:solidFill/>
              </a:rPr>
              <a:t>Processes sketches and photos into vectors with stroke ordering. Bridges raster to vector via analysis for efficiency.</a:t>
            </a:r>
            <a:endParaRPr kumimoji="1" lang="en-US" altLang="zh-CN" sz="2200" dirty="0"/>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856242a2_framework6.png"/>
          <p:cNvPicPr>
            <a:picLocks noChangeAspect="1"/>
          </p:cNvPicPr>
          <p:nvPr/>
        </p:nvPicPr>
        <p:blipFill>
          <a:blip r:embed="rId2"/>
          <a:stretch>
            <a:fillRect/>
          </a:stretch>
        </p:blipFill>
        <p:spPr>
          <a:xfrm>
            <a:off x="5083176" y="1458119"/>
            <a:ext cx="7086600" cy="2493961"/>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Generator Model</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Model Architecture</a:t>
            </a:r>
            <a:endParaRPr kumimoji="1" lang="en-US" altLang="zh-CN" dirty="0"/>
          </a:p>
          <a:p>
            <a:pPr marL="0" indent="0">
              <a:lnSpc>
                <a:spcPct val="150000"/>
              </a:lnSpc>
              <a:buFont typeface="Arial" panose="020B0604020202020204"/>
              <a:buNone/>
              <a:defRPr>
                <a:solidFill/>
              </a:defRPr>
            </a:pPr>
            <a:r>
              <a:rPr kumimoji="1" lang="zh-CN" altLang="en-US" sz="2200" dirty="0">
                <a:solidFill/>
              </a:rPr>
              <a:t>CNN encoder extracts features; RNN decoder outputs strokes. Maintains temporal consistency while updating canvas.</a:t>
            </a:r>
            <a:endParaRPr kumimoji="1" lang="en-US" altLang="zh-CN" sz="2200" dirty="0"/>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Face Refinement</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Progressive Refinement</a:t>
            </a:r>
            <a:endParaRPr kumimoji="1" lang="en-US" altLang="zh-CN" dirty="0"/>
          </a:p>
          <a:p>
            <a:pPr marL="0" indent="0">
              <a:lnSpc>
                <a:spcPct val="150000"/>
              </a:lnSpc>
              <a:buFont typeface="Arial" panose="020B0604020202020204"/>
              <a:buNone/>
              <a:defRPr>
                <a:solidFill/>
              </a:defRPr>
            </a:pPr>
            <a:r>
              <a:rPr kumimoji="1" lang="zh-CN" altLang="en-US" sz="2200" dirty="0">
                <a:solidFill/>
              </a:rPr>
              <a:t>Red point expands to eyes and beard. Strokes evolve iteratively. Ensures structural integrity and stroke ordering.</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Rocket Line Art</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Progressive Refinement</a:t>
            </a:r>
            <a:endParaRPr kumimoji="1" lang="en-US" altLang="zh-CN" dirty="0"/>
          </a:p>
          <a:p>
            <a:pPr marL="0" indent="0">
              <a:lnSpc>
                <a:spcPct val="150000"/>
              </a:lnSpc>
              <a:buFont typeface="Arial" panose="020B0604020202020204"/>
              <a:buNone/>
              <a:defRPr>
                <a:solidFill/>
              </a:defRPr>
            </a:pPr>
            <a:r>
              <a:rPr kumimoji="1" lang="zh-CN" altLang="en-US" sz="2200" dirty="0">
                <a:solidFill/>
              </a:rPr>
              <a:t>Rough sketches refine to line art. Red boxes highlight detail on nose cone, ensuring consistency via stroke correction.</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Penguin Refinement</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Iterative Correction</a:t>
            </a:r>
            <a:endParaRPr kumimoji="1" lang="en-US" altLang="zh-CN" dirty="0"/>
          </a:p>
          <a:p>
            <a:pPr marL="0" indent="0">
              <a:lnSpc>
                <a:spcPct val="150000"/>
              </a:lnSpc>
              <a:buFont typeface="Arial" panose="020B0604020202020204"/>
              <a:buNone/>
              <a:defRPr>
                <a:solidFill/>
              </a:defRPr>
            </a:pPr>
            <a:r>
              <a:rPr kumimoji="1" lang="zh-CN" altLang="en-US" sz="2200" dirty="0">
                <a:solidFill/>
              </a:rPr>
              <a:t>Rough dots become clean line art. Markers highlight iterative corrections for smooth outlines and feature extraction.</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Feature Tracing</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Photo-to-Line Sequence</a:t>
            </a:r>
            <a:endParaRPr kumimoji="1" lang="en-US" altLang="zh-CN" dirty="0"/>
          </a:p>
          <a:p>
            <a:pPr marL="0" indent="0">
              <a:lnSpc>
                <a:spcPct val="150000"/>
              </a:lnSpc>
              <a:buFont typeface="Arial" panose="020B0604020202020204"/>
              <a:buNone/>
              <a:defRPr>
                <a:solidFill/>
              </a:defRPr>
            </a:pPr>
            <a:r>
              <a:rPr kumimoji="1" lang="zh-CN" altLang="en-US" sz="2200" dirty="0">
                <a:solidFill/>
              </a:rPr>
              <a:t>Portrait vectorizes from photo. Red markers trace features sequentially. Ensures structural integrity during refinement.</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5083176" y="1007723"/>
            <a:ext cx="7086600"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Portrait Vectorization</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Facial Feature Tracing</a:t>
            </a:r>
            <a:endParaRPr kumimoji="1" lang="en-US" altLang="zh-CN" dirty="0"/>
          </a:p>
          <a:p>
            <a:pPr marL="0" indent="0">
              <a:lnSpc>
                <a:spcPct val="150000"/>
              </a:lnSpc>
              <a:buFont typeface="Arial" panose="020B0604020202020204"/>
              <a:buNone/>
              <a:defRPr>
                <a:solidFill/>
              </a:defRPr>
            </a:pPr>
            <a:r>
              <a:rPr kumimoji="1" lang="zh-CN" altLang="en-US" sz="2200" dirty="0">
                <a:solidFill/>
              </a:rPr>
              <a:t>Watch the photo transform into line art. System extracts facial features and refines outlines to maintain structure.</a:t>
            </a:r>
            <a:endParaRPr kumimoji="1" lang="en-US" altLang="zh-CN" sz="2200" dirty="0"/>
          </a:p>
        </p:txBody>
      </p:sp>
    </p:spTree>
  </p:cSld>
  <p:clrMapOvr>
    <a:masterClrMapping/>
  </p:clrMapOvr>
  <p:timing>
    <p:tnLst>
      <p:par>
        <p:cTn id="1" dur="indefinite" restart="never" nodeType="tmRoot">
          <p:childTnLst>
            <p:video>
              <p:cMediaNode vol="80000">
                <p:cTn id="2" fill="hold" display="0" repeatCount="indefinite">
                  <p:stCondLst>
                    <p:cond evt="onBegin" delay="0"/>
                  </p:stCondLst>
                </p:cTn>
                <p:tgtEl>
                  <p:spTgt spid="2"/>
                </p:tgtEl>
              </p:cMediaNode>
            </p:video>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图片 3" descr="7bcbe945_muten.png"/>
          <p:cNvPicPr>
            <a:picLocks noChangeAspect="1"/>
          </p:cNvPicPr>
          <p:nvPr/>
        </p:nvPicPr>
        <p:blipFill>
          <a:blip r:embed="rId2"/>
          <a:stretch>
            <a:fillRect/>
          </a:stretch>
        </p:blipFill>
        <p:spPr>
          <a:xfrm>
            <a:off x="5083176" y="1003300"/>
            <a:ext cx="2562987" cy="3403600"/>
          </a:xfrm>
          <a:prstGeom prst="rect">
            <a:avLst/>
          </a:prstGeom>
        </p:spPr>
      </p:pic>
      <p:sp>
        <p:nvSpPr>
          <p:cNvPr id="3" name="标题 2"/>
          <p:cNvSpPr>
            <a:spLocks noGrp="1"/>
          </p:cNvSpPr>
          <p:nvPr>
            <p:ph type="title"/>
          </p:nvPr>
        </p:nvSpPr>
        <p:spPr/>
        <p:txBody>
          <a:bodyPr>
            <a:normAutofit/>
          </a:bodyPr>
          <a:lstStyle>
            <a:lvl1pPr>
              <a:defRPr>
                <a:solidFill/>
              </a:defRPr>
            </a:lvl1pPr>
          </a:lstStyle>
          <a:p>
            <a:pPr>
              <a:defRPr>
                <a:solidFill/>
              </a:defRPr>
            </a:pPr>
            <a:r>
              <a:rPr kumimoji="1" lang="en-US" altLang="zh-CN" dirty="0">
                <a:solidFill/>
              </a:rPr>
              <a:t>Static Face Art</a:t>
            </a:r>
            <a:endParaRPr kumimoji="1" lang="en-US" altLang="zh-CN" dirty="0">
              <a:solidFill/>
            </a:endParaRPr>
          </a:p>
        </p:txBody>
      </p:sp>
      <p:sp>
        <p:nvSpPr>
          <p:cNvPr id="8" name="内容占位符 1"/>
          <p:cNvSpPr txBox="1"/>
          <p:nvPr/>
        </p:nvSpPr>
        <p:spPr>
          <a:xfrm>
            <a:off x="361493" y="1051562"/>
            <a:ext cx="4654388" cy="5413406"/>
          </a:xfrm>
          <a:prstGeom prst="rect">
            <a:avLst/>
          </a:prstGeom>
          <a:noFill/>
        </p:spPr>
        <p:txBody>
          <a:bodyPr vert="horz" lIns="91440" tIns="45720" rIns="91440" bIns="45720" rtlCol="0" anchor="t">
            <a:normAutofit/>
          </a:bodyPr>
          <a:lstStyle>
            <a:lvl1pPr marL="257175" indent="-257175" algn="l" defTabSz="342900" rtl="0" eaLnBrk="1" latinLnBrk="0" hangingPunct="1">
              <a:spcBef>
                <a:spcPct val="20000"/>
              </a:spcBef>
              <a:buFont typeface="Arial" panose="020B0604020202020204"/>
              <a:buChar char="•"/>
              <a:defRPr sz="2400" kern="1200">
                <a:solidFill>
                  <a:schemeClr val="tx1"/>
                </a:solidFill>
                <a:latin typeface="微软雅黑" panose="020B0503020204020204" pitchFamily="34" charset="-122"/>
                <a:ea typeface="微软雅黑" panose="020B0503020204020204" pitchFamily="34" charset="-122"/>
                <a:cs typeface="+mn-cs"/>
              </a:defRPr>
            </a:lvl1pPr>
            <a:lvl2pPr marL="557530" indent="-21463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3pPr>
            <a:lvl4pPr marL="12001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4pPr>
            <a:lvl5pPr marL="1543050" indent="-171450" algn="l" defTabSz="342900" rtl="0" eaLnBrk="1" latinLnBrk="0" hangingPunct="1">
              <a:spcBef>
                <a:spcPct val="20000"/>
              </a:spcBef>
              <a:buFont typeface="Arial" panose="020B0604020202020204"/>
              <a:buChar char="»"/>
              <a:defRPr sz="2000" kern="1200">
                <a:solidFill>
                  <a:schemeClr val="tx1"/>
                </a:solidFill>
                <a:latin typeface="微软雅黑" panose="020B0503020204020204" pitchFamily="34" charset="-122"/>
                <a:ea typeface="微软雅黑" panose="020B0503020204020204" pitchFamily="34" charset="-122"/>
                <a:cs typeface="+mn-cs"/>
              </a:defRPr>
            </a:lvl5pPr>
            <a:lvl6pPr marL="18859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6pPr>
            <a:lvl7pPr marL="22288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7pPr>
            <a:lvl8pPr marL="25717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8pPr>
            <a:lvl9pPr marL="2914650" indent="-171450" algn="l" defTabSz="342900" rtl="0" eaLnBrk="1" latinLnBrk="0" hangingPunct="1">
              <a:spcBef>
                <a:spcPct val="20000"/>
              </a:spcBef>
              <a:buFont typeface="Arial" panose="020B0604020202020204"/>
              <a:buChar char="•"/>
              <a:defRPr sz="1500" kern="1200">
                <a:solidFill>
                  <a:schemeClr val="tx1"/>
                </a:solidFill>
                <a:latin typeface="+mn-lt"/>
                <a:ea typeface="+mn-ea"/>
                <a:cs typeface="+mn-cs"/>
              </a:defRPr>
            </a:lvl9pPr>
          </a:lstStyle>
          <a:p>
            <a:pPr>
              <a:lnSpc>
                <a:spcPct val="200000"/>
              </a:lnSpc>
              <a:defRPr>
                <a:solidFill/>
              </a:defRPr>
            </a:pPr>
            <a:r>
              <a:rPr kumimoji="1" lang="zh-CN" altLang="en-US" b="1" dirty="0">
                <a:solidFill/>
              </a:rPr>
              <a:t>Stylized Line Quality</a:t>
            </a:r>
            <a:endParaRPr kumimoji="1" lang="en-US" altLang="zh-CN" dirty="0"/>
          </a:p>
          <a:p>
            <a:pPr marL="0" indent="0">
              <a:lnSpc>
                <a:spcPct val="150000"/>
              </a:lnSpc>
              <a:buFont typeface="Arial" panose="020B0604020202020204"/>
              <a:buNone/>
              <a:defRPr>
                <a:solidFill/>
              </a:defRPr>
            </a:pPr>
            <a:r>
              <a:rPr kumimoji="1" lang="zh-CN" altLang="en-US" sz="2200" dirty="0">
                <a:solidFill/>
              </a:rPr>
              <a:t>Displays stylized line art. Detailed eyes and mustache demonstrate precise feature extraction from rough inputs.</a:t>
            </a:r>
            <a:endParaRPr kumimoji="1" lang="en-US" altLang="zh-CN" sz="2200" dirty="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灯片编号占位符 1"/>
          <p:cNvSpPr>
            <a:spLocks noGrp="1"/>
          </p:cNvSpPr>
          <p:nvPr>
            <p:ph type="sldNum" sz="quarter" idx="12"/>
          </p:nvPr>
        </p:nvSpPr>
        <p:spPr/>
        <p:txBody>
          <a:bodyPr/>
          <a:lstStyle>
            <a:lvl1pPr>
              <a:defRPr>
                <a:solidFill/>
              </a:defRPr>
            </a:lvl1pPr>
          </a:lstStyle>
          <a:p>
            <a:pPr>
              <a:defRPr>
                <a:solidFill/>
              </a:defRPr>
            </a:pPr>
            <a:fld id="{184837EA-8E75-5C46-B6C5-33E17701B5D3}" type="slidenum">
              <a:rPr kumimoji="1" lang="zh-CN" altLang="en-US" smtClean="0"/>
            </a:fld>
            <a:endParaRPr kumimoji="1" lang="zh-CN" altLang="en-US"/>
          </a:p>
        </p:txBody>
      </p:sp>
      <p:sp>
        <p:nvSpPr>
          <p:cNvPr id="3" name="内容占位符 2"/>
          <p:cNvSpPr>
            <a:spLocks noGrp="1"/>
          </p:cNvSpPr>
          <p:nvPr>
            <p:ph sz="quarter" idx="13"/>
          </p:nvPr>
        </p:nvSpPr>
        <p:spPr/>
        <p:txBody>
          <a:bodyPr>
            <a:normAutofit/>
          </a:bodyPr>
          <a:lstStyle>
            <a:lvl1pPr>
              <a:defRPr>
                <a:solidFill/>
              </a:defRPr>
            </a:lvl1pPr>
          </a:lstStyle>
          <a:p>
            <a:pPr>
              <a:defRPr>
                <a:solidFill/>
              </a:defRPr>
            </a:pPr>
            <a:r>
              <a:rPr kumimoji="1" lang="zh-CN" altLang="en-US" sz="4800" dirty="0">
                <a:solidFill>
                  <a:schemeClr val="bg1"/>
                </a:solidFill>
              </a:rPr>
              <a:t>Thank You!</a:t>
            </a:r>
            <a:endParaRPr kumimoji="1" lang="zh-CN" altLang="en-US" sz="4800" dirty="0">
              <a:solidFill>
                <a:schemeClr val="bg1"/>
              </a:solidFill>
            </a:endParaRPr>
          </a:p>
        </p:txBody>
      </p:sp>
    </p:spTree>
  </p:cSld>
  <p:clrMapOvr>
    <a:masterClrMapping/>
  </p:clrMapOvr>
</p:sld>
</file>

<file path=ppt/theme/theme1.xml><?xml version="1.0" encoding="utf-8"?>
<a:theme xmlns:a="http://schemas.openxmlformats.org/drawingml/2006/main" name="CNIC">
  <a:themeElements>
    <a:clrScheme name="办公室">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办公室">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办公室">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2249</Words>
  <Application>WPS 演示</Application>
  <PresentationFormat>宽屏</PresentationFormat>
  <Paragraphs>56</Paragraphs>
  <Slides>10</Slides>
  <Notes>6</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10</vt:i4>
      </vt:variant>
    </vt:vector>
  </HeadingPairs>
  <TitlesOfParts>
    <vt:vector size="21" baseType="lpstr">
      <vt:lpstr>Arial</vt:lpstr>
      <vt:lpstr>宋体</vt:lpstr>
      <vt:lpstr>Wingdings</vt:lpstr>
      <vt:lpstr>Arial</vt:lpstr>
      <vt:lpstr>黑体</vt:lpstr>
      <vt:lpstr>微软雅黑</vt:lpstr>
      <vt:lpstr>Comic Sans MS</vt:lpstr>
      <vt:lpstr>Calibri</vt:lpstr>
      <vt:lpstr>Arial Unicode MS</vt:lpstr>
      <vt:lpstr>等线</vt:lpstr>
      <vt:lpstr>CNIC</vt:lpstr>
      <vt:lpstr>PowerPoint 演示文稿</vt:lpstr>
      <vt:lpstr>What are Agents?</vt:lpstr>
      <vt:lpstr>When (and when not) to use Agents</vt:lpstr>
      <vt:lpstr>Common Frameworks for Agents</vt:lpstr>
      <vt:lpstr>Building Blocks and Workflows</vt:lpstr>
      <vt:lpstr>Agents in Practice</vt:lpstr>
      <vt:lpstr>Key Principles for Building Effective Agents</vt:lpstr>
      <vt:lpstr>LLM Interaction</vt:lpstr>
      <vt:lpstr>LLM Call Generator and Evaluator</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吴炜</cp:lastModifiedBy>
  <cp:revision>35</cp:revision>
  <dcterms:created xsi:type="dcterms:W3CDTF">2026-04-30T11:51:00Z</dcterms:created>
  <dcterms:modified xsi:type="dcterms:W3CDTF">2026-04-30T11:53:04Z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4DA4DB001A1F41158937266F0B7928E7_12</vt:lpwstr>
  </property>
  <property fmtid="{D5CDD505-2E9C-101B-9397-08002B2CF9AE}" pid="3" name="KSOProductBuildVer">
    <vt:lpwstr>2052-12.1.0.25865</vt:lpwstr>
  </property>
</Properties>
</file>