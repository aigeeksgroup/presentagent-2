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" name="Conference label"/>
          <p:cNvSpPr txBox="1"/>
          <p:nvPr/>
        </p:nvSpPr>
        <p:spPr>
          <a:xfrm>
            <a:off x="822960" y="1097280"/>
            <a:ext cx="6492240" cy="347472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ACADEMIC CONFERENCE PRESENTATION</a:t>
            </a:r>
          </a:p>
        </p:txBody>
      </p:sp>
      <p:sp>
        <p:nvSpPr>
          <p:cNvPr id="6" name="Editable presentation title"/>
          <p:cNvSpPr txBox="1"/>
          <p:nvPr/>
        </p:nvSpPr>
        <p:spPr>
          <a:xfrm>
            <a:off x="777240" y="1600200"/>
            <a:ext cx="6492240" cy="114300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Research Title Goes Here</a:t>
            </a:r>
          </a:p>
        </p:txBody>
      </p:sp>
      <p:sp>
        <p:nvSpPr>
          <p:cNvPr id="7" name="Editable subtitle"/>
          <p:cNvSpPr txBox="1"/>
          <p:nvPr/>
        </p:nvSpPr>
        <p:spPr>
          <a:xfrm>
            <a:off x="822960" y="2788920"/>
            <a:ext cx="6537960" cy="47548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A concise subtitle that states the central question or contribution</a:t>
            </a:r>
          </a:p>
        </p:txBody>
      </p:sp>
      <p:sp>
        <p:nvSpPr>
          <p:cNvPr id="8" name="Author and affiliation"/>
          <p:cNvSpPr txBox="1"/>
          <p:nvPr/>
        </p:nvSpPr>
        <p:spPr>
          <a:xfrm>
            <a:off x="822960" y="3822191"/>
            <a:ext cx="4572000" cy="621792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Author Name¹, Co-author Name²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¹Department, University   ²Research Institute</a:t>
            </a:r>
          </a:p>
        </p:txBody>
      </p:sp>
      <p:sp>
        <p:nvSpPr>
          <p:cNvPr id="9" name="Title visual placeholder"/>
          <p:cNvSpPr/>
          <p:nvPr/>
        </p:nvSpPr>
        <p:spPr>
          <a:xfrm>
            <a:off x="7635240" y="1143000"/>
            <a:ext cx="3520440" cy="3520440"/>
          </a:xfrm>
          <a:prstGeom prst="rect">
            <a:avLst/>
          </a:prstGeom>
          <a:solidFill>
            <a:srgbClr val="FAFAFA"/>
          </a:solidFill>
          <a:ln w="13970">
            <a:solidFill>
              <a:srgbClr val="A9B7C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KEY VISUAL / GRAPHICAL ABSTRACT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Drag or paste image / chart here</a:t>
            </a:r>
          </a:p>
        </p:txBody>
      </p:sp>
      <p:sp>
        <p:nvSpPr>
          <p:cNvPr id="10" name="Editable figure caption"/>
          <p:cNvSpPr txBox="1"/>
          <p:nvPr/>
        </p:nvSpPr>
        <p:spPr>
          <a:xfrm>
            <a:off x="7635240" y="4709159"/>
            <a:ext cx="3520440" cy="2926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Optional graphical abstract or representative figure.</a:t>
            </a:r>
          </a:p>
        </p:txBody>
      </p:sp>
      <p:sp>
        <p:nvSpPr>
          <p:cNvPr id="11" name="Conference/date text"/>
          <p:cNvSpPr txBox="1"/>
          <p:nvPr/>
        </p:nvSpPr>
        <p:spPr>
          <a:xfrm>
            <a:off x="822960" y="5760720"/>
            <a:ext cx="4754880" cy="438912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Conference Name · City/Country · Month DD, YYYY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327648"/>
            <a:ext cx="10927080" cy="0"/>
          </a:xfrm>
          <a:prstGeom prst="line">
            <a:avLst/>
          </a:prstGeom>
          <a:ln w="6985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itable footer text"/>
          <p:cNvSpPr txBox="1"/>
          <p:nvPr/>
        </p:nvSpPr>
        <p:spPr>
          <a:xfrm>
            <a:off x="658368" y="6419088"/>
            <a:ext cx="612648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Academic Conference Template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4360" y="347472"/>
            <a:ext cx="8321040" cy="47548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Outline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932688"/>
            <a:ext cx="10927080" cy="0"/>
          </a:xfrm>
          <a:prstGeom prst="line">
            <a:avLst/>
          </a:prstGeom>
          <a:ln w="7620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15400" y="429768"/>
            <a:ext cx="2606040" cy="32004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Title / Agenda layout</a:t>
            </a:r>
          </a:p>
        </p:txBody>
      </p:sp>
      <p:sp>
        <p:nvSpPr>
          <p:cNvPr id="6" name="Editable agenda list"/>
          <p:cNvSpPr txBox="1"/>
          <p:nvPr/>
        </p:nvSpPr>
        <p:spPr>
          <a:xfrm>
            <a:off x="960120" y="1417320"/>
            <a:ext cx="5715000" cy="3566160"/>
          </a:xfrm>
          <a:prstGeom prst="rect">
            <a:avLst/>
          </a:prstGeom>
          <a:noFill/>
        </p:spPr>
        <p:txBody>
          <a:bodyPr wrap="square" anchor="t" lIns="73152" tIns="18288" rIns="73152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01  Background and research gap</a:t>
            </a:r>
          </a:p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02  Research question and contribution</a:t>
            </a:r>
          </a:p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03  Methods / experimental design</a:t>
            </a:r>
          </a:p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04  Results and interpretation</a:t>
            </a:r>
          </a:p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05  Conclusion and future work</a:t>
            </a:r>
          </a:p>
        </p:txBody>
      </p:sp>
      <p:sp>
        <p:nvSpPr>
          <p:cNvPr id="7" name="Agenda visual placeholder"/>
          <p:cNvSpPr/>
          <p:nvPr/>
        </p:nvSpPr>
        <p:spPr>
          <a:xfrm>
            <a:off x="7406640" y="1481328"/>
            <a:ext cx="3383280" cy="3200400"/>
          </a:xfrm>
          <a:prstGeom prst="rect">
            <a:avLst/>
          </a:prstGeom>
          <a:solidFill>
            <a:srgbClr val="FAFAFA"/>
          </a:solidFill>
          <a:ln w="13970">
            <a:solidFill>
              <a:srgbClr val="A9B7C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STRUCTURE DIAGRAM / IMAGE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Drag or paste image / chart here</a:t>
            </a:r>
          </a:p>
        </p:txBody>
      </p:sp>
      <p:sp>
        <p:nvSpPr>
          <p:cNvPr id="8" name="Editable figure caption"/>
          <p:cNvSpPr txBox="1"/>
          <p:nvPr/>
        </p:nvSpPr>
        <p:spPr>
          <a:xfrm>
            <a:off x="7406640" y="4727448"/>
            <a:ext cx="3383280" cy="2926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Optional roadmap image, conceptual schematic, or session graphic.</a:t>
            </a:r>
          </a:p>
        </p:txBody>
      </p:sp>
      <p:sp>
        <p:nvSpPr>
          <p:cNvPr id="9" name="Editable presentation tip"/>
          <p:cNvSpPr txBox="1"/>
          <p:nvPr/>
        </p:nvSpPr>
        <p:spPr>
          <a:xfrm>
            <a:off x="960120" y="5257800"/>
            <a:ext cx="9784080" cy="45720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Tip: keep the outline short; use this slide to signal the argument flow rather than list every subsection.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327648"/>
            <a:ext cx="10927080" cy="0"/>
          </a:xfrm>
          <a:prstGeom prst="line">
            <a:avLst/>
          </a:prstGeom>
          <a:ln w="6985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itable footer text"/>
          <p:cNvSpPr txBox="1"/>
          <p:nvPr/>
        </p:nvSpPr>
        <p:spPr>
          <a:xfrm>
            <a:off x="658368" y="6419088"/>
            <a:ext cx="612648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Academic Conference Template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4360" y="347472"/>
            <a:ext cx="8321040" cy="47548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Background and Motivation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932688"/>
            <a:ext cx="10927080" cy="0"/>
          </a:xfrm>
          <a:prstGeom prst="line">
            <a:avLst/>
          </a:prstGeom>
          <a:ln w="7620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15400" y="429768"/>
            <a:ext cx="2606040" cy="32004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Left text + right figure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325880" cy="228600"/>
          </a:xfrm>
          <a:prstGeom prst="roundRect">
            <a:avLst/>
          </a:prstGeom>
          <a:solidFill>
            <a:srgbClr val="E5EBF5"/>
          </a:solidFill>
          <a:ln w="10160">
            <a:solidFill>
              <a:srgbClr val="A9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" name="Section tag"/>
          <p:cNvSpPr txBox="1"/>
          <p:nvPr/>
        </p:nvSpPr>
        <p:spPr>
          <a:xfrm>
            <a:off x="804672" y="1175004"/>
            <a:ext cx="1179576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Context</a:t>
            </a:r>
          </a:p>
        </p:txBody>
      </p:sp>
      <p:sp>
        <p:nvSpPr>
          <p:cNvPr id="8" name="Editable section heading"/>
          <p:cNvSpPr txBox="1"/>
          <p:nvPr/>
        </p:nvSpPr>
        <p:spPr>
          <a:xfrm>
            <a:off x="731520" y="1508760"/>
            <a:ext cx="4892040" cy="50292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9" name="Editable body text"/>
          <p:cNvSpPr txBox="1"/>
          <p:nvPr/>
        </p:nvSpPr>
        <p:spPr>
          <a:xfrm>
            <a:off x="749808" y="2148840"/>
            <a:ext cx="4800600" cy="192024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• Replace this paragraph with 2–3 sentences describing the field, the unresolved challenge, and why it matters.</a:t>
            </a:r>
          </a:p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• Highlight one quantitative fact or literature gap that motivates the study.</a:t>
            </a:r>
          </a:p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• End with the specific question this work addresses.</a:t>
            </a:r>
          </a:p>
        </p:txBody>
      </p:sp>
      <p:sp>
        <p:nvSpPr>
          <p:cNvPr id="10" name="Editable takeaway"/>
          <p:cNvSpPr txBox="1"/>
          <p:nvPr/>
        </p:nvSpPr>
        <p:spPr>
          <a:xfrm>
            <a:off x="749808" y="4315968"/>
            <a:ext cx="4800600" cy="621792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Key takeaway: one sentence that frames the research gap for the audience.</a:t>
            </a:r>
          </a:p>
        </p:txBody>
      </p:sp>
      <p:sp>
        <p:nvSpPr>
          <p:cNvPr id="11" name="Right figure placeholder"/>
          <p:cNvSpPr/>
          <p:nvPr/>
        </p:nvSpPr>
        <p:spPr>
          <a:xfrm>
            <a:off x="6080760" y="1325880"/>
            <a:ext cx="4800600" cy="4069080"/>
          </a:xfrm>
          <a:prstGeom prst="rect">
            <a:avLst/>
          </a:prstGeom>
          <a:solidFill>
            <a:srgbClr val="FAFAFA"/>
          </a:solidFill>
          <a:ln w="13970">
            <a:solidFill>
              <a:srgbClr val="A9B7C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BACKGROUND FIGURE / LITERATURE MAP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Drag or paste image / chart here</a:t>
            </a:r>
          </a:p>
        </p:txBody>
      </p:sp>
      <p:sp>
        <p:nvSpPr>
          <p:cNvPr id="12" name="Editable figure caption"/>
          <p:cNvSpPr txBox="1"/>
          <p:nvPr/>
        </p:nvSpPr>
        <p:spPr>
          <a:xfrm>
            <a:off x="6080760" y="5440680"/>
            <a:ext cx="4800600" cy="2926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Figure 1. A contextual image, prior-work map, or motivating data visualization.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27648"/>
            <a:ext cx="10927080" cy="0"/>
          </a:xfrm>
          <a:prstGeom prst="line">
            <a:avLst/>
          </a:prstGeom>
          <a:ln w="6985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itable footer text"/>
          <p:cNvSpPr txBox="1"/>
          <p:nvPr/>
        </p:nvSpPr>
        <p:spPr>
          <a:xfrm>
            <a:off x="658368" y="6419088"/>
            <a:ext cx="612648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Academic Conference Template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4360" y="347472"/>
            <a:ext cx="8321040" cy="47548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Research Question and Contribution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932688"/>
            <a:ext cx="10927080" cy="0"/>
          </a:xfrm>
          <a:prstGeom prst="line">
            <a:avLst/>
          </a:prstGeom>
          <a:ln w="7620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15400" y="429768"/>
            <a:ext cx="2606040" cy="32004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Left figure + right text</a:t>
            </a:r>
          </a:p>
        </p:txBody>
      </p:sp>
      <p:sp>
        <p:nvSpPr>
          <p:cNvPr id="6" name="Left figure placeholder"/>
          <p:cNvSpPr/>
          <p:nvPr/>
        </p:nvSpPr>
        <p:spPr>
          <a:xfrm>
            <a:off x="841248" y="1234440"/>
            <a:ext cx="4937760" cy="4160520"/>
          </a:xfrm>
          <a:prstGeom prst="rect">
            <a:avLst/>
          </a:prstGeom>
          <a:solidFill>
            <a:srgbClr val="FAFAFA"/>
          </a:solidFill>
          <a:ln w="13970">
            <a:solidFill>
              <a:srgbClr val="A9B7C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CONCEPTUAL FRAMEWORK / MODEL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Drag or paste image / chart here</a:t>
            </a:r>
          </a:p>
        </p:txBody>
      </p:sp>
      <p:sp>
        <p:nvSpPr>
          <p:cNvPr id="7" name="Editable figure caption"/>
          <p:cNvSpPr txBox="1"/>
          <p:nvPr/>
        </p:nvSpPr>
        <p:spPr>
          <a:xfrm>
            <a:off x="841248" y="5440680"/>
            <a:ext cx="4937760" cy="2926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Figure 2. Conceptual framework or hypothesis diagram.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1325880" cy="228600"/>
          </a:xfrm>
          <a:prstGeom prst="roundRect">
            <a:avLst/>
          </a:prstGeom>
          <a:solidFill>
            <a:srgbClr val="E5EBF5"/>
          </a:solidFill>
          <a:ln w="10160">
            <a:solidFill>
              <a:srgbClr val="A9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" name="Section tag"/>
          <p:cNvSpPr txBox="1"/>
          <p:nvPr/>
        </p:nvSpPr>
        <p:spPr>
          <a:xfrm>
            <a:off x="6336792" y="1266444"/>
            <a:ext cx="1179576" cy="14630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Contribution</a:t>
            </a:r>
          </a:p>
        </p:txBody>
      </p:sp>
      <p:sp>
        <p:nvSpPr>
          <p:cNvPr id="10" name="Editable heading"/>
          <p:cNvSpPr txBox="1"/>
          <p:nvPr/>
        </p:nvSpPr>
        <p:spPr>
          <a:xfrm>
            <a:off x="6263640" y="1572768"/>
            <a:ext cx="4617720" cy="50292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Main research question</a:t>
            </a:r>
          </a:p>
        </p:txBody>
      </p:sp>
      <p:sp>
        <p:nvSpPr>
          <p:cNvPr id="11" name="Editable research question"/>
          <p:cNvSpPr txBox="1"/>
          <p:nvPr/>
        </p:nvSpPr>
        <p:spPr>
          <a:xfrm>
            <a:off x="6263640" y="2176272"/>
            <a:ext cx="4572000" cy="77724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How does [factor X] influence [outcome Y] under [condition Z]?</a:t>
            </a:r>
          </a:p>
        </p:txBody>
      </p:sp>
      <p:sp>
        <p:nvSpPr>
          <p:cNvPr id="12" name="Editable contribution list"/>
          <p:cNvSpPr txBox="1"/>
          <p:nvPr/>
        </p:nvSpPr>
        <p:spPr>
          <a:xfrm>
            <a:off x="6263640" y="3246120"/>
            <a:ext cx="4572000" cy="128016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2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1. New dataset / measurement / experimental setting</a:t>
            </a:r>
          </a:p>
          <a:p>
            <a:pPr algn="l">
              <a:lnSpc>
                <a:spcPct val="115000"/>
              </a:lnSpc>
            </a:pPr>
            <a:r>
              <a:rPr sz="152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2. Methodological contribution or improved estimation strategy</a:t>
            </a:r>
          </a:p>
          <a:p>
            <a:pPr algn="l">
              <a:lnSpc>
                <a:spcPct val="115000"/>
              </a:lnSpc>
            </a:pPr>
            <a:r>
              <a:rPr sz="152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3. Empirical or theoretical insight for the community</a:t>
            </a:r>
          </a:p>
        </p:txBody>
      </p:sp>
      <p:sp>
        <p:nvSpPr>
          <p:cNvPr id="13" name="Editable note"/>
          <p:cNvSpPr txBox="1"/>
          <p:nvPr/>
        </p:nvSpPr>
        <p:spPr>
          <a:xfrm>
            <a:off x="6263640" y="4937760"/>
            <a:ext cx="4572000" cy="38404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Replace bracketed text with your study-specific variables.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327648"/>
            <a:ext cx="10927080" cy="0"/>
          </a:xfrm>
          <a:prstGeom prst="line">
            <a:avLst/>
          </a:prstGeom>
          <a:ln w="6985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itable footer text"/>
          <p:cNvSpPr txBox="1"/>
          <p:nvPr/>
        </p:nvSpPr>
        <p:spPr>
          <a:xfrm>
            <a:off x="658368" y="6419088"/>
            <a:ext cx="612648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Academic Conference Template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4360" y="347472"/>
            <a:ext cx="8321040" cy="47548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Study Design / Methods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932688"/>
            <a:ext cx="10927080" cy="0"/>
          </a:xfrm>
          <a:prstGeom prst="line">
            <a:avLst/>
          </a:prstGeom>
          <a:ln w="7620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15400" y="429768"/>
            <a:ext cx="2606040" cy="32004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Large left region + two right regions</a:t>
            </a:r>
          </a:p>
        </p:txBody>
      </p:sp>
      <p:sp>
        <p:nvSpPr>
          <p:cNvPr id="6" name="Large left placeholder"/>
          <p:cNvSpPr/>
          <p:nvPr/>
        </p:nvSpPr>
        <p:spPr>
          <a:xfrm>
            <a:off x="804672" y="1188720"/>
            <a:ext cx="6217920" cy="4343400"/>
          </a:xfrm>
          <a:prstGeom prst="rect">
            <a:avLst/>
          </a:prstGeom>
          <a:solidFill>
            <a:srgbClr val="FAFAFA"/>
          </a:solidFill>
          <a:ln w="13970">
            <a:solidFill>
              <a:srgbClr val="A9B7C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MAIN METHOD DIAGRAM / PIPELINE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Drag or paste image / chart here</a:t>
            </a:r>
          </a:p>
        </p:txBody>
      </p:sp>
      <p:sp>
        <p:nvSpPr>
          <p:cNvPr id="7" name="Editable figure caption"/>
          <p:cNvSpPr txBox="1"/>
          <p:nvPr/>
        </p:nvSpPr>
        <p:spPr>
          <a:xfrm>
            <a:off x="804672" y="5577840"/>
            <a:ext cx="6217920" cy="2926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Figure 3. Study design, data pipeline, workflow, or experimental setup.</a:t>
            </a:r>
          </a:p>
        </p:txBody>
      </p:sp>
      <p:sp>
        <p:nvSpPr>
          <p:cNvPr id="8" name="Right top panel"/>
          <p:cNvSpPr/>
          <p:nvPr/>
        </p:nvSpPr>
        <p:spPr>
          <a:xfrm>
            <a:off x="7388352" y="1188720"/>
            <a:ext cx="3703320" cy="1920240"/>
          </a:xfrm>
          <a:prstGeom prst="roundRect">
            <a:avLst/>
          </a:prstGeom>
          <a:solidFill>
            <a:srgbClr val="F7F9FD"/>
          </a:solidFill>
          <a:ln w="10160">
            <a:solidFill>
              <a:srgbClr val="A9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" name="Right top heading"/>
          <p:cNvSpPr txBox="1"/>
          <p:nvPr/>
        </p:nvSpPr>
        <p:spPr>
          <a:xfrm>
            <a:off x="7571231" y="1417320"/>
            <a:ext cx="3337560" cy="256032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Data / Participants</a:t>
            </a:r>
          </a:p>
        </p:txBody>
      </p:sp>
      <p:sp>
        <p:nvSpPr>
          <p:cNvPr id="10" name="Right top editable text"/>
          <p:cNvSpPr txBox="1"/>
          <p:nvPr/>
        </p:nvSpPr>
        <p:spPr>
          <a:xfrm>
            <a:off x="7571231" y="1810512"/>
            <a:ext cx="3291840" cy="877824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N = [sample size]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Source: [dataset / cohort]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Period: [years / sessions]</a:t>
            </a:r>
          </a:p>
        </p:txBody>
      </p:sp>
      <p:sp>
        <p:nvSpPr>
          <p:cNvPr id="11" name="Right bottom panel"/>
          <p:cNvSpPr/>
          <p:nvPr/>
        </p:nvSpPr>
        <p:spPr>
          <a:xfrm>
            <a:off x="7388352" y="3529584"/>
            <a:ext cx="3703320" cy="1920240"/>
          </a:xfrm>
          <a:prstGeom prst="roundRect">
            <a:avLst/>
          </a:prstGeom>
          <a:solidFill>
            <a:srgbClr val="F7F9FD"/>
          </a:solidFill>
          <a:ln w="10160">
            <a:solidFill>
              <a:srgbClr val="A9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2" name="Right bottom heading"/>
          <p:cNvSpPr txBox="1"/>
          <p:nvPr/>
        </p:nvSpPr>
        <p:spPr>
          <a:xfrm>
            <a:off x="7571231" y="3767328"/>
            <a:ext cx="3337560" cy="256032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Analysis Strategy</a:t>
            </a:r>
          </a:p>
        </p:txBody>
      </p:sp>
      <p:sp>
        <p:nvSpPr>
          <p:cNvPr id="13" name="Right bottom editable text"/>
          <p:cNvSpPr txBox="1"/>
          <p:nvPr/>
        </p:nvSpPr>
        <p:spPr>
          <a:xfrm>
            <a:off x="7571231" y="4160520"/>
            <a:ext cx="3291840" cy="877824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Model: [specification]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Controls: [key covariates]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Robustness: [planned checks]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327648"/>
            <a:ext cx="10927080" cy="0"/>
          </a:xfrm>
          <a:prstGeom prst="line">
            <a:avLst/>
          </a:prstGeom>
          <a:ln w="6985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itable footer text"/>
          <p:cNvSpPr txBox="1"/>
          <p:nvPr/>
        </p:nvSpPr>
        <p:spPr>
          <a:xfrm>
            <a:off x="658368" y="6419088"/>
            <a:ext cx="612648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Academic Conference Template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4360" y="347472"/>
            <a:ext cx="8321040" cy="47548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Main Result: Full-Figure Layout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932688"/>
            <a:ext cx="10927080" cy="0"/>
          </a:xfrm>
          <a:prstGeom prst="line">
            <a:avLst/>
          </a:prstGeom>
          <a:ln w="7620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15400" y="429768"/>
            <a:ext cx="2606040" cy="32004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Full image + title + annotation</a:t>
            </a:r>
          </a:p>
        </p:txBody>
      </p:sp>
      <p:sp>
        <p:nvSpPr>
          <p:cNvPr id="6" name="Full figure placeholder"/>
          <p:cNvSpPr/>
          <p:nvPr/>
        </p:nvSpPr>
        <p:spPr>
          <a:xfrm>
            <a:off x="822960" y="1207008"/>
            <a:ext cx="10561320" cy="4251960"/>
          </a:xfrm>
          <a:prstGeom prst="rect">
            <a:avLst/>
          </a:prstGeom>
          <a:solidFill>
            <a:srgbClr val="FAFAFA"/>
          </a:solidFill>
          <a:ln w="13970">
            <a:solidFill>
              <a:srgbClr val="A9B7C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FULL-WIDTH RESULT FIGURE / TABLE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Drag or paste image / chart here</a:t>
            </a:r>
          </a:p>
        </p:txBody>
      </p:sp>
      <p:sp>
        <p:nvSpPr>
          <p:cNvPr id="7" name="Editable figure caption"/>
          <p:cNvSpPr txBox="1"/>
          <p:nvPr/>
        </p:nvSpPr>
        <p:spPr>
          <a:xfrm>
            <a:off x="822960" y="5504688"/>
            <a:ext cx="10561320" cy="2926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Figure 4. Replace with the central result figure; keep axes and labels readable.</a:t>
            </a:r>
          </a:p>
        </p:txBody>
      </p:sp>
      <p:sp>
        <p:nvSpPr>
          <p:cNvPr id="8" name="Editable annotation callout"/>
          <p:cNvSpPr/>
          <p:nvPr/>
        </p:nvSpPr>
        <p:spPr>
          <a:xfrm>
            <a:off x="1005840" y="4736592"/>
            <a:ext cx="329184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" name="Editable annotation text"/>
          <p:cNvSpPr txBox="1"/>
          <p:nvPr/>
        </p:nvSpPr>
        <p:spPr>
          <a:xfrm>
            <a:off x="1115568" y="4864608"/>
            <a:ext cx="3072384" cy="2377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Annotation: mark the key pattern or coefficient.</a:t>
            </a:r>
          </a:p>
        </p:txBody>
      </p:sp>
      <p:sp>
        <p:nvSpPr>
          <p:cNvPr id="10" name="Editable interpretation text"/>
          <p:cNvSpPr txBox="1"/>
          <p:nvPr/>
        </p:nvSpPr>
        <p:spPr>
          <a:xfrm>
            <a:off x="868680" y="5650992"/>
            <a:ext cx="10469880" cy="310896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One-sentence interpretation: state what the audience should notice before discussing mechanisms.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327648"/>
            <a:ext cx="10927080" cy="0"/>
          </a:xfrm>
          <a:prstGeom prst="line">
            <a:avLst/>
          </a:prstGeom>
          <a:ln w="6985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ditable footer text"/>
          <p:cNvSpPr txBox="1"/>
          <p:nvPr/>
        </p:nvSpPr>
        <p:spPr>
          <a:xfrm>
            <a:off x="658368" y="6419088"/>
            <a:ext cx="612648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Academic Conference Template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4360" y="347472"/>
            <a:ext cx="8321040" cy="47548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Comparison of Findings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932688"/>
            <a:ext cx="10927080" cy="0"/>
          </a:xfrm>
          <a:prstGeom prst="line">
            <a:avLst/>
          </a:prstGeom>
          <a:ln w="7620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15400" y="429768"/>
            <a:ext cx="2606040" cy="32004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Two-column comparison layout</a:t>
            </a:r>
          </a:p>
        </p:txBody>
      </p:sp>
      <p:sp>
        <p:nvSpPr>
          <p:cNvPr id="6" name="Left comparison panel"/>
          <p:cNvSpPr/>
          <p:nvPr/>
        </p:nvSpPr>
        <p:spPr>
          <a:xfrm>
            <a:off x="804672" y="1170432"/>
            <a:ext cx="5074920" cy="4526280"/>
          </a:xfrm>
          <a:prstGeom prst="roundRect">
            <a:avLst/>
          </a:prstGeom>
          <a:solidFill>
            <a:srgbClr val="F9FAFC"/>
          </a:solidFill>
          <a:ln w="10160">
            <a:solidFill>
              <a:srgbClr val="A9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" name="Left column heading"/>
          <p:cNvSpPr txBox="1"/>
          <p:nvPr/>
        </p:nvSpPr>
        <p:spPr>
          <a:xfrm>
            <a:off x="1078992" y="1444752"/>
            <a:ext cx="4526280" cy="36576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Baseline / Prior Work</a:t>
            </a:r>
          </a:p>
        </p:txBody>
      </p:sp>
      <p:sp>
        <p:nvSpPr>
          <p:cNvPr id="8" name="Left comparison image placeholder"/>
          <p:cNvSpPr/>
          <p:nvPr/>
        </p:nvSpPr>
        <p:spPr>
          <a:xfrm>
            <a:off x="1115568" y="2011680"/>
            <a:ext cx="4434840" cy="1691640"/>
          </a:xfrm>
          <a:prstGeom prst="rect">
            <a:avLst/>
          </a:prstGeom>
          <a:solidFill>
            <a:srgbClr val="FAFAFA"/>
          </a:solidFill>
          <a:ln w="13970">
            <a:solidFill>
              <a:srgbClr val="A9B7C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LEFT FIGURE / TABLE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Drag or paste image / chart here</a:t>
            </a:r>
          </a:p>
        </p:txBody>
      </p:sp>
      <p:sp>
        <p:nvSpPr>
          <p:cNvPr id="9" name="Editable figure caption"/>
          <p:cNvSpPr txBox="1"/>
          <p:nvPr/>
        </p:nvSpPr>
        <p:spPr>
          <a:xfrm>
            <a:off x="1115568" y="3749040"/>
            <a:ext cx="4434840" cy="2926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Left panel caption.</a:t>
            </a:r>
          </a:p>
        </p:txBody>
      </p:sp>
      <p:sp>
        <p:nvSpPr>
          <p:cNvPr id="10" name="Left comparison bullets"/>
          <p:cNvSpPr txBox="1"/>
          <p:nvPr/>
        </p:nvSpPr>
        <p:spPr>
          <a:xfrm>
            <a:off x="1115568" y="4169663"/>
            <a:ext cx="4434840" cy="100584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• Finding A: [replace]</a:t>
            </a:r>
          </a:p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• Limitation or uncertainty: [replace]</a:t>
            </a:r>
          </a:p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• Interpretation: [replace]</a:t>
            </a:r>
          </a:p>
        </p:txBody>
      </p:sp>
      <p:sp>
        <p:nvSpPr>
          <p:cNvPr id="11" name="Right comparison panel"/>
          <p:cNvSpPr/>
          <p:nvPr/>
        </p:nvSpPr>
        <p:spPr>
          <a:xfrm>
            <a:off x="6327648" y="1170432"/>
            <a:ext cx="5074920" cy="4526280"/>
          </a:xfrm>
          <a:prstGeom prst="roundRect">
            <a:avLst/>
          </a:prstGeom>
          <a:solidFill>
            <a:srgbClr val="F9FAFC"/>
          </a:solidFill>
          <a:ln w="10160">
            <a:solidFill>
              <a:srgbClr val="A9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2" name="Right column heading"/>
          <p:cNvSpPr txBox="1"/>
          <p:nvPr/>
        </p:nvSpPr>
        <p:spPr>
          <a:xfrm>
            <a:off x="6601968" y="1444752"/>
            <a:ext cx="4526280" cy="36576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This Study / Proposed Method</a:t>
            </a:r>
          </a:p>
        </p:txBody>
      </p:sp>
      <p:sp>
        <p:nvSpPr>
          <p:cNvPr id="13" name="Right comparison image placeholder"/>
          <p:cNvSpPr/>
          <p:nvPr/>
        </p:nvSpPr>
        <p:spPr>
          <a:xfrm>
            <a:off x="6638544" y="2011680"/>
            <a:ext cx="4434840" cy="1691640"/>
          </a:xfrm>
          <a:prstGeom prst="rect">
            <a:avLst/>
          </a:prstGeom>
          <a:solidFill>
            <a:srgbClr val="FAFAFA"/>
          </a:solidFill>
          <a:ln w="13970">
            <a:solidFill>
              <a:srgbClr val="A9B7C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RIGHT FIGURE / TABLE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Drag or paste image / chart here</a:t>
            </a:r>
          </a:p>
        </p:txBody>
      </p:sp>
      <p:sp>
        <p:nvSpPr>
          <p:cNvPr id="14" name="Editable figure caption"/>
          <p:cNvSpPr txBox="1"/>
          <p:nvPr/>
        </p:nvSpPr>
        <p:spPr>
          <a:xfrm>
            <a:off x="6638544" y="3749040"/>
            <a:ext cx="4434840" cy="2926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Right panel caption.</a:t>
            </a:r>
          </a:p>
        </p:txBody>
      </p:sp>
      <p:sp>
        <p:nvSpPr>
          <p:cNvPr id="15" name="Right comparison bullets"/>
          <p:cNvSpPr txBox="1"/>
          <p:nvPr/>
        </p:nvSpPr>
        <p:spPr>
          <a:xfrm>
            <a:off x="6638544" y="4169663"/>
            <a:ext cx="4434840" cy="100584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• Finding B: [replace]</a:t>
            </a:r>
          </a:p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• Improvement or novelty: [replace]</a:t>
            </a:r>
          </a:p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• Interpretation: [replace]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327648"/>
            <a:ext cx="10927080" cy="0"/>
          </a:xfrm>
          <a:prstGeom prst="line">
            <a:avLst/>
          </a:prstGeom>
          <a:ln w="6985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ditable footer text"/>
          <p:cNvSpPr txBox="1"/>
          <p:nvPr/>
        </p:nvSpPr>
        <p:spPr>
          <a:xfrm>
            <a:off x="658368" y="6419088"/>
            <a:ext cx="612648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Academic Conference Template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4360" y="347472"/>
            <a:ext cx="8321040" cy="47548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Discussion and Limitations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932688"/>
            <a:ext cx="10927080" cy="0"/>
          </a:xfrm>
          <a:prstGeom prst="line">
            <a:avLst/>
          </a:prstGeom>
          <a:ln w="7620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15400" y="429768"/>
            <a:ext cx="2606040" cy="32004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Text synthesis + supporting visual</a:t>
            </a:r>
          </a:p>
        </p:txBody>
      </p:sp>
      <p:sp>
        <p:nvSpPr>
          <p:cNvPr id="6" name="Discussion heading 1"/>
          <p:cNvSpPr txBox="1"/>
          <p:nvPr/>
        </p:nvSpPr>
        <p:spPr>
          <a:xfrm>
            <a:off x="822960" y="1234440"/>
            <a:ext cx="3063240" cy="41148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What the results suggest</a:t>
            </a:r>
          </a:p>
        </p:txBody>
      </p:sp>
      <p:sp>
        <p:nvSpPr>
          <p:cNvPr id="7" name="Discussion body 1"/>
          <p:cNvSpPr txBox="1"/>
          <p:nvPr/>
        </p:nvSpPr>
        <p:spPr>
          <a:xfrm>
            <a:off x="822960" y="1783080"/>
            <a:ext cx="3063240" cy="109728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Replace this with the theoretical or practical meaning of your findings. Use one paragraph rather than a dense list.</a:t>
            </a:r>
          </a:p>
        </p:txBody>
      </p:sp>
      <p:sp>
        <p:nvSpPr>
          <p:cNvPr id="8" name="Discussion heading 2"/>
          <p:cNvSpPr txBox="1"/>
          <p:nvPr/>
        </p:nvSpPr>
        <p:spPr>
          <a:xfrm>
            <a:off x="822960" y="3172968"/>
            <a:ext cx="3063240" cy="41148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Boundary conditions</a:t>
            </a:r>
          </a:p>
        </p:txBody>
      </p:sp>
      <p:sp>
        <p:nvSpPr>
          <p:cNvPr id="9" name="Discussion body 2"/>
          <p:cNvSpPr txBox="1"/>
          <p:nvPr/>
        </p:nvSpPr>
        <p:spPr>
          <a:xfrm>
            <a:off x="822960" y="3721608"/>
            <a:ext cx="3063240" cy="109728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Clarify where the evidence is strongest and where interpretation should remain cautious.</a:t>
            </a:r>
          </a:p>
        </p:txBody>
      </p:sp>
      <p:sp>
        <p:nvSpPr>
          <p:cNvPr id="10" name="Discussion image placeholder"/>
          <p:cNvSpPr/>
          <p:nvPr/>
        </p:nvSpPr>
        <p:spPr>
          <a:xfrm>
            <a:off x="4343400" y="1234440"/>
            <a:ext cx="6766560" cy="3566160"/>
          </a:xfrm>
          <a:prstGeom prst="rect">
            <a:avLst/>
          </a:prstGeom>
          <a:solidFill>
            <a:srgbClr val="FAFAFA"/>
          </a:solidFill>
          <a:ln w="13970">
            <a:solidFill>
              <a:srgbClr val="A9B7C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SUPPORTING VISUAL / ROBUSTNESS SUMMARY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Drag or paste image / chart here</a:t>
            </a:r>
          </a:p>
        </p:txBody>
      </p:sp>
      <p:sp>
        <p:nvSpPr>
          <p:cNvPr id="11" name="Editable figure caption"/>
          <p:cNvSpPr txBox="1"/>
          <p:nvPr/>
        </p:nvSpPr>
        <p:spPr>
          <a:xfrm>
            <a:off x="4343400" y="4846320"/>
            <a:ext cx="6766560" cy="2926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Optional robustness plot, mechanism diagram, or summary table.</a:t>
            </a:r>
          </a:p>
        </p:txBody>
      </p:sp>
      <p:sp>
        <p:nvSpPr>
          <p:cNvPr id="12" name="Limitations note"/>
          <p:cNvSpPr txBox="1"/>
          <p:nvPr/>
        </p:nvSpPr>
        <p:spPr>
          <a:xfrm>
            <a:off x="4343400" y="5212080"/>
            <a:ext cx="6766560" cy="38404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Limitations: be explicit, but frame them as next steps rather than weaknesses.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27648"/>
            <a:ext cx="10927080" cy="0"/>
          </a:xfrm>
          <a:prstGeom prst="line">
            <a:avLst/>
          </a:prstGeom>
          <a:ln w="6985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ditable footer text"/>
          <p:cNvSpPr txBox="1"/>
          <p:nvPr/>
        </p:nvSpPr>
        <p:spPr>
          <a:xfrm>
            <a:off x="658368" y="6419088"/>
            <a:ext cx="612648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Academic Conference Template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Slide title"/>
          <p:cNvSpPr txBox="1"/>
          <p:nvPr/>
        </p:nvSpPr>
        <p:spPr>
          <a:xfrm>
            <a:off x="594360" y="347472"/>
            <a:ext cx="8321040" cy="47548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Conclusion and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932688"/>
            <a:ext cx="10927080" cy="0"/>
          </a:xfrm>
          <a:prstGeom prst="line">
            <a:avLst/>
          </a:prstGeom>
          <a:ln w="7620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915400" y="429768"/>
            <a:ext cx="2606040" cy="32004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Summary layout</a:t>
            </a:r>
          </a:p>
        </p:txBody>
      </p:sp>
      <p:sp>
        <p:nvSpPr>
          <p:cNvPr id="6" name="Conclusion figure placeholder"/>
          <p:cNvSpPr/>
          <p:nvPr/>
        </p:nvSpPr>
        <p:spPr>
          <a:xfrm>
            <a:off x="868680" y="1280160"/>
            <a:ext cx="3886200" cy="3337560"/>
          </a:xfrm>
          <a:prstGeom prst="rect">
            <a:avLst/>
          </a:prstGeom>
          <a:solidFill>
            <a:srgbClr val="FAFAFA"/>
          </a:solidFill>
          <a:ln w="13970">
            <a:solidFill>
              <a:srgbClr val="A9B7C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SUMMARY FIGURE / ICON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Drag or paste image / chart here</a:t>
            </a:r>
          </a:p>
        </p:txBody>
      </p:sp>
      <p:sp>
        <p:nvSpPr>
          <p:cNvPr id="7" name="Editable figure caption"/>
          <p:cNvSpPr txBox="1"/>
          <p:nvPr/>
        </p:nvSpPr>
        <p:spPr>
          <a:xfrm>
            <a:off x="868680" y="4663440"/>
            <a:ext cx="3886200" cy="2926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Optional takeaway graphic or final conceptual model.</a:t>
            </a:r>
          </a:p>
        </p:txBody>
      </p:sp>
      <p:sp>
        <p:nvSpPr>
          <p:cNvPr id="8" name="Conclusion heading"/>
          <p:cNvSpPr txBox="1"/>
          <p:nvPr/>
        </p:nvSpPr>
        <p:spPr>
          <a:xfrm>
            <a:off x="5257800" y="1234440"/>
            <a:ext cx="5440680" cy="438912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Three takeaways</a:t>
            </a:r>
          </a:p>
        </p:txBody>
      </p:sp>
      <p:sp>
        <p:nvSpPr>
          <p:cNvPr id="9" name="Takeaway number 1"/>
          <p:cNvSpPr/>
          <p:nvPr/>
        </p:nvSpPr>
        <p:spPr>
          <a:xfrm>
            <a:off x="5257800" y="1874519"/>
            <a:ext cx="384048" cy="384048"/>
          </a:xfrm>
          <a:prstGeom prst="roundRect">
            <a:avLst/>
          </a:prstGeom>
          <a:solidFill>
            <a:srgbClr val="E5EBF5"/>
          </a:solidFill>
          <a:ln w="1016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" name="Editable number 1"/>
          <p:cNvSpPr txBox="1"/>
          <p:nvPr/>
        </p:nvSpPr>
        <p:spPr>
          <a:xfrm>
            <a:off x="5376672" y="1947672"/>
            <a:ext cx="164592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" name="Editable takeaway 1"/>
          <p:cNvSpPr txBox="1"/>
          <p:nvPr/>
        </p:nvSpPr>
        <p:spPr>
          <a:xfrm>
            <a:off x="5806440" y="1856231"/>
            <a:ext cx="4892040" cy="54864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What we studied: [research question in plain language]</a:t>
            </a:r>
          </a:p>
        </p:txBody>
      </p:sp>
      <p:sp>
        <p:nvSpPr>
          <p:cNvPr id="12" name="Takeaway number 2"/>
          <p:cNvSpPr/>
          <p:nvPr/>
        </p:nvSpPr>
        <p:spPr>
          <a:xfrm>
            <a:off x="5257800" y="2788920"/>
            <a:ext cx="384048" cy="384048"/>
          </a:xfrm>
          <a:prstGeom prst="roundRect">
            <a:avLst/>
          </a:prstGeom>
          <a:solidFill>
            <a:srgbClr val="E5EBF5"/>
          </a:solidFill>
          <a:ln w="1016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3" name="Editable number 2"/>
          <p:cNvSpPr txBox="1"/>
          <p:nvPr/>
        </p:nvSpPr>
        <p:spPr>
          <a:xfrm>
            <a:off x="5376672" y="2862072"/>
            <a:ext cx="164592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" name="Editable takeaway 2"/>
          <p:cNvSpPr txBox="1"/>
          <p:nvPr/>
        </p:nvSpPr>
        <p:spPr>
          <a:xfrm>
            <a:off x="5806440" y="2770632"/>
            <a:ext cx="4892040" cy="54864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What we found: [core empirical/theoretical result]</a:t>
            </a:r>
          </a:p>
        </p:txBody>
      </p:sp>
      <p:sp>
        <p:nvSpPr>
          <p:cNvPr id="15" name="Takeaway number 3"/>
          <p:cNvSpPr/>
          <p:nvPr/>
        </p:nvSpPr>
        <p:spPr>
          <a:xfrm>
            <a:off x="5257800" y="3703320"/>
            <a:ext cx="384048" cy="384048"/>
          </a:xfrm>
          <a:prstGeom prst="roundRect">
            <a:avLst/>
          </a:prstGeom>
          <a:solidFill>
            <a:srgbClr val="E5EBF5"/>
          </a:solidFill>
          <a:ln w="1016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6" name="Editable number 3"/>
          <p:cNvSpPr txBox="1"/>
          <p:nvPr/>
        </p:nvSpPr>
        <p:spPr>
          <a:xfrm>
            <a:off x="5376672" y="3776472"/>
            <a:ext cx="164592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7" name="Editable takeaway 3"/>
          <p:cNvSpPr txBox="1"/>
          <p:nvPr/>
        </p:nvSpPr>
        <p:spPr>
          <a:xfrm>
            <a:off x="5806440" y="3685032"/>
            <a:ext cx="4892040" cy="54864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Why it matters: [contribution to field or practice]</a:t>
            </a:r>
          </a:p>
        </p:txBody>
      </p:sp>
      <p:sp>
        <p:nvSpPr>
          <p:cNvPr id="18" name="Future work note"/>
          <p:cNvSpPr txBox="1"/>
          <p:nvPr/>
        </p:nvSpPr>
        <p:spPr>
          <a:xfrm>
            <a:off x="5257800" y="4892040"/>
            <a:ext cx="5440680" cy="50292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Next step: [follow-up experiment / open question / collaboration request]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327648"/>
            <a:ext cx="10927080" cy="0"/>
          </a:xfrm>
          <a:prstGeom prst="line">
            <a:avLst/>
          </a:prstGeom>
          <a:ln w="6985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itable footer text"/>
          <p:cNvSpPr txBox="1"/>
          <p:nvPr/>
        </p:nvSpPr>
        <p:spPr>
          <a:xfrm>
            <a:off x="658368" y="6419088"/>
            <a:ext cx="612648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Academic Conference Template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" name="End slide title"/>
          <p:cNvSpPr txBox="1"/>
          <p:nvPr/>
        </p:nvSpPr>
        <p:spPr>
          <a:xfrm>
            <a:off x="822960" y="1325880"/>
            <a:ext cx="6035040" cy="68580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162844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  <p:sp>
        <p:nvSpPr>
          <p:cNvPr id="6" name="End slide subtitle"/>
          <p:cNvSpPr txBox="1"/>
          <p:nvPr/>
        </p:nvSpPr>
        <p:spPr>
          <a:xfrm>
            <a:off x="841248" y="2084831"/>
            <a:ext cx="6035040" cy="45720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2F5496"/>
                </a:solidFill>
                <a:latin typeface="Times New Roman"/>
                <a:ea typeface="Times New Roman"/>
                <a:cs typeface="Times New Roman"/>
              </a:rPr>
              <a:t>Questions &amp; Discussion</a:t>
            </a:r>
          </a:p>
        </p:txBody>
      </p:sp>
      <p:sp>
        <p:nvSpPr>
          <p:cNvPr id="7" name="Contact block"/>
          <p:cNvSpPr txBox="1"/>
          <p:nvPr/>
        </p:nvSpPr>
        <p:spPr>
          <a:xfrm>
            <a:off x="868680" y="3154680"/>
            <a:ext cx="4206240" cy="914400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Name Surname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Department / University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E1E1E"/>
                </a:solidFill>
                <a:latin typeface="Times New Roman"/>
                <a:ea typeface="Times New Roman"/>
                <a:cs typeface="Times New Roman"/>
              </a:rPr>
              <a:t>email@university.edu</a:t>
            </a:r>
          </a:p>
        </p:txBody>
      </p:sp>
      <p:sp>
        <p:nvSpPr>
          <p:cNvPr id="8" name="End slide image placeholder"/>
          <p:cNvSpPr/>
          <p:nvPr/>
        </p:nvSpPr>
        <p:spPr>
          <a:xfrm>
            <a:off x="7086600" y="1325880"/>
            <a:ext cx="3840480" cy="3383280"/>
          </a:xfrm>
          <a:prstGeom prst="rect">
            <a:avLst/>
          </a:prstGeom>
          <a:solidFill>
            <a:srgbClr val="FAFAFA"/>
          </a:solidFill>
          <a:ln w="13970">
            <a:solidFill>
              <a:srgbClr val="A9B7C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LAB LOGO / QR CODE / FINAL IMAGE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Drag or paste image / chart here</a:t>
            </a:r>
          </a:p>
        </p:txBody>
      </p:sp>
      <p:sp>
        <p:nvSpPr>
          <p:cNvPr id="9" name="Editable figure caption"/>
          <p:cNvSpPr txBox="1"/>
          <p:nvPr/>
        </p:nvSpPr>
        <p:spPr>
          <a:xfrm>
            <a:off x="7086600" y="4754880"/>
            <a:ext cx="3840480" cy="292608"/>
          </a:xfrm>
          <a:prstGeom prst="rect">
            <a:avLst/>
          </a:prstGeom>
          <a:noFill/>
        </p:spPr>
        <p:txBody>
          <a:bodyPr wrap="square" anchor="t" lIns="18288" tIns="9144" rIns="18288" bIns="9144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Optional QR code for paper, project website, or contact page.</a:t>
            </a:r>
          </a:p>
        </p:txBody>
      </p:sp>
      <p:sp>
        <p:nvSpPr>
          <p:cNvPr id="10" name="Acknowledgement text"/>
          <p:cNvSpPr txBox="1"/>
          <p:nvPr/>
        </p:nvSpPr>
        <p:spPr>
          <a:xfrm>
            <a:off x="868680" y="5440680"/>
            <a:ext cx="5303520" cy="384048"/>
          </a:xfrm>
          <a:prstGeom prst="rect">
            <a:avLst/>
          </a:prstGeom>
          <a:noFill/>
        </p:spPr>
        <p:txBody>
          <a:bodyPr wrap="square" anchor="t" lIns="54864" tIns="27432" rIns="54864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Replace with acknowledgements, funding information, or collaborator credits.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327648"/>
            <a:ext cx="10927080" cy="0"/>
          </a:xfrm>
          <a:prstGeom prst="line">
            <a:avLst/>
          </a:prstGeom>
          <a:ln w="6985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ditable footer text"/>
          <p:cNvSpPr txBox="1"/>
          <p:nvPr/>
        </p:nvSpPr>
        <p:spPr>
          <a:xfrm>
            <a:off x="658368" y="6419088"/>
            <a:ext cx="612648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Academic Conference Template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11109960" y="6419088"/>
            <a:ext cx="457200" cy="182880"/>
          </a:xfrm>
          <a:prstGeom prst="rect">
            <a:avLst/>
          </a:prstGeom>
          <a:noFill/>
        </p:spPr>
        <p:txBody>
          <a:bodyPr wrap="square" anchor="t" lIns="9144" tIns="9144" rIns="9144" bIns="9144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 i="0">
                <a:solidFill>
                  <a:srgbClr val="5A6674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